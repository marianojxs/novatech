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7"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63E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623" autoAdjust="0"/>
  </p:normalViewPr>
  <p:slideViewPr>
    <p:cSldViewPr snapToGrid="0" snapToObjects="1">
      <p:cViewPr varScale="1">
        <p:scale>
          <a:sx n="48" d="100"/>
          <a:sy n="48" d="100"/>
        </p:scale>
        <p:origin x="1554"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5442DA-31A6-4FB4-8407-72E0EDF62651}" type="datetimeFigureOut">
              <a:rPr lang="es-CR" smtClean="0"/>
              <a:t>17/8/2026</a:t>
            </a:fld>
            <a:endParaRPr lang="es-C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08AB4D-D047-47C5-A6B4-BC8176905C71}" type="slidenum">
              <a:rPr lang="es-CR" smtClean="0"/>
              <a:t>‹#›</a:t>
            </a:fld>
            <a:endParaRPr lang="es-CR"/>
          </a:p>
        </p:txBody>
      </p:sp>
    </p:spTree>
    <p:extLst>
      <p:ext uri="{BB962C8B-B14F-4D97-AF65-F5344CB8AC3E}">
        <p14:creationId xmlns:p14="http://schemas.microsoft.com/office/powerpoint/2010/main" val="3207951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Nuestro proyecto consiste en el desarrollo de un sistema para </a:t>
            </a:r>
            <a:r>
              <a:rPr lang="es-CR" dirty="0" err="1"/>
              <a:t>NovaTech</a:t>
            </a:r>
            <a:r>
              <a:rPr lang="es-CR" dirty="0"/>
              <a:t> </a:t>
            </a:r>
            <a:r>
              <a:rPr lang="es-CR" dirty="0" err="1"/>
              <a:t>Solutions</a:t>
            </a:r>
            <a:r>
              <a:rPr lang="es-CR" dirty="0"/>
              <a:t> S.A., una empresa ficticia dedicada a la comercialización de productos tecnológicos y accesorios. El objetivo principal fue aplicar los conocimientos adquiridos en el curso de Bases de Datos NoSQL mediante una solución basada en MongoDB. Además de diseñar la base de datos, desarrollamos una aplicación web que permite interactuar con la información sin necesidad de trabajar directamente desde MongoDB.</a:t>
            </a:r>
          </a:p>
        </p:txBody>
      </p:sp>
      <p:sp>
        <p:nvSpPr>
          <p:cNvPr id="4" name="Slide Number Placeholder 3"/>
          <p:cNvSpPr>
            <a:spLocks noGrp="1"/>
          </p:cNvSpPr>
          <p:nvPr>
            <p:ph type="sldNum" sz="quarter" idx="5"/>
          </p:nvPr>
        </p:nvSpPr>
        <p:spPr/>
        <p:txBody>
          <a:bodyPr/>
          <a:lstStyle/>
          <a:p>
            <a:fld id="{3908AB4D-D047-47C5-A6B4-BC8176905C71}" type="slidenum">
              <a:rPr lang="es-CR" smtClean="0"/>
              <a:t>1</a:t>
            </a:fld>
            <a:endParaRPr lang="es-CR"/>
          </a:p>
        </p:txBody>
      </p:sp>
    </p:spTree>
    <p:extLst>
      <p:ext uri="{BB962C8B-B14F-4D97-AF65-F5344CB8AC3E}">
        <p14:creationId xmlns:p14="http://schemas.microsoft.com/office/powerpoint/2010/main" val="3787018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El problema inicial que identificamos fue que la información de clientes, productos, proveedores, compras y ventas se encontraba dispersa. Esto puede generar duplicidad, errores y pérdida de tiempo al buscar información.</a:t>
            </a:r>
          </a:p>
          <a:p>
            <a:r>
              <a:rPr lang="es-CR" dirty="0"/>
              <a:t>Uno de los puntos más importantes es el inventario. Sin una herramienta centralizada resulta difícil conocer qué productos están disponibles, cuáles ingresaron mediante compras y cuáles salieron mediante ventas.</a:t>
            </a:r>
          </a:p>
          <a:p>
            <a:r>
              <a:rPr lang="es-CR" dirty="0"/>
              <a:t>Además, no toda la información tiene necesariamente la misma estructura. Por ejemplo, diferentes productos pueden tener características distintas. Esa fue una de las razones por las que consideramos apropiado utilizar una base de datos NoSQL.</a:t>
            </a:r>
          </a:p>
          <a:p>
            <a:endParaRPr lang="es-CR" dirty="0"/>
          </a:p>
        </p:txBody>
      </p:sp>
      <p:sp>
        <p:nvSpPr>
          <p:cNvPr id="4" name="Slide Number Placeholder 3"/>
          <p:cNvSpPr>
            <a:spLocks noGrp="1"/>
          </p:cNvSpPr>
          <p:nvPr>
            <p:ph type="sldNum" sz="quarter" idx="5"/>
          </p:nvPr>
        </p:nvSpPr>
        <p:spPr/>
        <p:txBody>
          <a:bodyPr/>
          <a:lstStyle/>
          <a:p>
            <a:fld id="{3908AB4D-D047-47C5-A6B4-BC8176905C71}" type="slidenum">
              <a:rPr lang="es-CR" smtClean="0"/>
              <a:t>2</a:t>
            </a:fld>
            <a:endParaRPr lang="es-CR"/>
          </a:p>
        </p:txBody>
      </p:sp>
    </p:spTree>
    <p:extLst>
      <p:ext uri="{BB962C8B-B14F-4D97-AF65-F5344CB8AC3E}">
        <p14:creationId xmlns:p14="http://schemas.microsoft.com/office/powerpoint/2010/main" val="4053883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La aplicación está dividida en diferentes capas. Primero tenemos la interfaz con la que interactúa el usuario. Cuando el usuario realiza una acción, por ejemplo registrar un producto, se genera una solicitud hacia el servidor.</a:t>
            </a:r>
          </a:p>
          <a:p>
            <a:r>
              <a:rPr lang="es-CR" dirty="0"/>
              <a:t>Express administra las rutas y determina qué parte de la aplicación debe atender esa solicitud. Posteriormente los controladores ejecutan la lógica correspondiente y los modelos definidos mediante </a:t>
            </a:r>
            <a:r>
              <a:rPr lang="es-CR" dirty="0" err="1"/>
              <a:t>Mongoose</a:t>
            </a:r>
            <a:r>
              <a:rPr lang="es-CR" dirty="0"/>
              <a:t> permiten interactuar con MongoDB.</a:t>
            </a:r>
          </a:p>
          <a:p>
            <a:r>
              <a:rPr lang="es-CR" dirty="0"/>
              <a:t>En términos sencillos, la interfaz recibe lo que hace el usuario, el </a:t>
            </a:r>
            <a:r>
              <a:rPr lang="es-CR" dirty="0" err="1"/>
              <a:t>backend</a:t>
            </a:r>
            <a:r>
              <a:rPr lang="es-CR" dirty="0"/>
              <a:t> procesa lo que necesita hacer y MongoDB almacena finalmente la información.</a:t>
            </a:r>
          </a:p>
          <a:p>
            <a:r>
              <a:rPr lang="es-CR" dirty="0"/>
              <a:t>// </a:t>
            </a:r>
            <a:r>
              <a:rPr lang="es-CR" dirty="0" err="1"/>
              <a:t>Mongoose</a:t>
            </a:r>
            <a:r>
              <a:rPr lang="es-CR" dirty="0"/>
              <a:t> es la herramienta que utilizamos en Node.js para modelar los documentos y facilitar la comunicación de nuestra aplicación con MongoDB.</a:t>
            </a:r>
          </a:p>
        </p:txBody>
      </p:sp>
      <p:sp>
        <p:nvSpPr>
          <p:cNvPr id="4" name="Slide Number Placeholder 3"/>
          <p:cNvSpPr>
            <a:spLocks noGrp="1"/>
          </p:cNvSpPr>
          <p:nvPr>
            <p:ph type="sldNum" sz="quarter" idx="5"/>
          </p:nvPr>
        </p:nvSpPr>
        <p:spPr/>
        <p:txBody>
          <a:bodyPr/>
          <a:lstStyle/>
          <a:p>
            <a:fld id="{3908AB4D-D047-47C5-A6B4-BC8176905C71}" type="slidenum">
              <a:rPr lang="es-CR" smtClean="0"/>
              <a:t>3</a:t>
            </a:fld>
            <a:endParaRPr lang="es-CR"/>
          </a:p>
        </p:txBody>
      </p:sp>
    </p:spTree>
    <p:extLst>
      <p:ext uri="{BB962C8B-B14F-4D97-AF65-F5344CB8AC3E}">
        <p14:creationId xmlns:p14="http://schemas.microsoft.com/office/powerpoint/2010/main" val="2501125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Elegimos MongoDB principalmente por su modelo orientado a documentos. A diferencia de un modelo estrictamente tabular, podemos manejar estructuras más flexibles.</a:t>
            </a:r>
          </a:p>
          <a:p>
            <a:r>
              <a:rPr lang="es-CR" dirty="0"/>
              <a:t>Por ejemplo, un producto podría necesitar determinadas características técnicas que otro producto no necesita. MongoDB permite adaptar los documentos a esas diferencias sin tener que modificar completamente la estructura de la base de datos.</a:t>
            </a:r>
          </a:p>
          <a:p>
            <a:r>
              <a:rPr lang="es-CR" dirty="0"/>
              <a:t>// </a:t>
            </a:r>
            <a:r>
              <a:rPr lang="es-CR" b="1" dirty="0"/>
              <a:t>JSON:</a:t>
            </a:r>
            <a:r>
              <a:rPr lang="es-CR" dirty="0"/>
              <a:t> formato de representación de datos.</a:t>
            </a:r>
          </a:p>
          <a:p>
            <a:r>
              <a:rPr lang="es-CR" b="1" dirty="0"/>
              <a:t>// BSON:</a:t>
            </a:r>
            <a:r>
              <a:rPr lang="es-CR" dirty="0"/>
              <a:t> </a:t>
            </a:r>
            <a:r>
              <a:rPr lang="es-CR" dirty="0" err="1"/>
              <a:t>Binary</a:t>
            </a:r>
            <a:r>
              <a:rPr lang="es-CR" dirty="0"/>
              <a:t> JSON; es el formato que utiliza MongoDB internamente para almacenar sus documentos.</a:t>
            </a:r>
          </a:p>
          <a:p>
            <a:r>
              <a:rPr lang="es-CR" dirty="0"/>
              <a:t>El proyecto establece que las colecciones se almacenan utilizando BSON. </a:t>
            </a:r>
          </a:p>
          <a:p>
            <a:endParaRPr lang="es-CR" dirty="0"/>
          </a:p>
        </p:txBody>
      </p:sp>
      <p:sp>
        <p:nvSpPr>
          <p:cNvPr id="4" name="Slide Number Placeholder 3"/>
          <p:cNvSpPr>
            <a:spLocks noGrp="1"/>
          </p:cNvSpPr>
          <p:nvPr>
            <p:ph type="sldNum" sz="quarter" idx="5"/>
          </p:nvPr>
        </p:nvSpPr>
        <p:spPr/>
        <p:txBody>
          <a:bodyPr/>
          <a:lstStyle/>
          <a:p>
            <a:fld id="{3908AB4D-D047-47C5-A6B4-BC8176905C71}" type="slidenum">
              <a:rPr lang="es-CR" smtClean="0"/>
              <a:t>4</a:t>
            </a:fld>
            <a:endParaRPr lang="es-CR"/>
          </a:p>
        </p:txBody>
      </p:sp>
    </p:spTree>
    <p:extLst>
      <p:ext uri="{BB962C8B-B14F-4D97-AF65-F5344CB8AC3E}">
        <p14:creationId xmlns:p14="http://schemas.microsoft.com/office/powerpoint/2010/main" val="2833777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La base de datos </a:t>
            </a:r>
            <a:r>
              <a:rPr lang="es-CR" dirty="0" err="1"/>
              <a:t>NovaTechDB</a:t>
            </a:r>
            <a:r>
              <a:rPr lang="es-CR" dirty="0"/>
              <a:t> está organizada en doce colecciones que representan las diferentes áreas del negocio.</a:t>
            </a:r>
          </a:p>
          <a:p>
            <a:r>
              <a:rPr lang="es-CR" dirty="0"/>
              <a:t>Tenemos información maestra, como clientes, productos, proveedores, categorías, usuarios, sucursales y métodos de pago; y tenemos información transaccional, como compras, ventas, detalle de ventas, movimientos de inventario y devoluciones.</a:t>
            </a:r>
          </a:p>
          <a:p>
            <a:r>
              <a:rPr lang="es-CR" dirty="0"/>
              <a:t>Aunque están almacenadas en colecciones diferentes, la aplicación permite relacionarlas para representar una operación comercial completa.</a:t>
            </a:r>
          </a:p>
        </p:txBody>
      </p:sp>
      <p:sp>
        <p:nvSpPr>
          <p:cNvPr id="4" name="Slide Number Placeholder 3"/>
          <p:cNvSpPr>
            <a:spLocks noGrp="1"/>
          </p:cNvSpPr>
          <p:nvPr>
            <p:ph type="sldNum" sz="quarter" idx="5"/>
          </p:nvPr>
        </p:nvSpPr>
        <p:spPr/>
        <p:txBody>
          <a:bodyPr/>
          <a:lstStyle/>
          <a:p>
            <a:fld id="{3908AB4D-D047-47C5-A6B4-BC8176905C71}" type="slidenum">
              <a:rPr lang="es-CR" smtClean="0"/>
              <a:t>5</a:t>
            </a:fld>
            <a:endParaRPr lang="es-CR"/>
          </a:p>
        </p:txBody>
      </p:sp>
    </p:spTree>
    <p:extLst>
      <p:ext uri="{BB962C8B-B14F-4D97-AF65-F5344CB8AC3E}">
        <p14:creationId xmlns:p14="http://schemas.microsoft.com/office/powerpoint/2010/main" val="1645875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b="1" dirty="0"/>
              <a:t>Compra </a:t>
            </a:r>
            <a:r>
              <a:rPr lang="es-CR" dirty="0"/>
              <a:t>Cuando se recibe una compra, no solamente guardamos el documento correspondiente a la compra. También debemos reflejar el efecto que esa operación tiene sobre el inventario.</a:t>
            </a:r>
          </a:p>
          <a:p>
            <a:r>
              <a:rPr lang="es-CR" dirty="0"/>
              <a:t>Entonces:</a:t>
            </a:r>
          </a:p>
          <a:p>
            <a:r>
              <a:rPr lang="es-CR" b="1" dirty="0"/>
              <a:t>Compra recibida → aumenta stock → registra movimiento de entrada.</a:t>
            </a:r>
            <a:endParaRPr lang="es-CR" dirty="0"/>
          </a:p>
          <a:p>
            <a:r>
              <a:rPr lang="es-CR" b="1" dirty="0"/>
              <a:t>Venta </a:t>
            </a:r>
            <a:r>
              <a:rPr lang="es-CR" dirty="0"/>
              <a:t>En una venta ocurre lo contrario. Primero debemos verificar que exista suficiente inventario. Si existe, registramos la venta, calculamos el total y generamos la correspondiente salida del inventario.</a:t>
            </a:r>
          </a:p>
          <a:p>
            <a:r>
              <a:rPr lang="es-CR" b="1" dirty="0"/>
              <a:t>Venta → validar stock → calcular total → disminuir inventario.</a:t>
            </a:r>
            <a:endParaRPr lang="es-CR" dirty="0"/>
          </a:p>
          <a:p>
            <a:r>
              <a:rPr lang="es-CR" b="1" dirty="0"/>
              <a:t>Devolución </a:t>
            </a:r>
            <a:r>
              <a:rPr lang="es-CR" dirty="0"/>
              <a:t>Finalmente, cuando existe una devolución válida, las unidades correspondientes deben regresar al inventario.</a:t>
            </a:r>
          </a:p>
        </p:txBody>
      </p:sp>
      <p:sp>
        <p:nvSpPr>
          <p:cNvPr id="4" name="Slide Number Placeholder 3"/>
          <p:cNvSpPr>
            <a:spLocks noGrp="1"/>
          </p:cNvSpPr>
          <p:nvPr>
            <p:ph type="sldNum" sz="quarter" idx="5"/>
          </p:nvPr>
        </p:nvSpPr>
        <p:spPr/>
        <p:txBody>
          <a:bodyPr/>
          <a:lstStyle/>
          <a:p>
            <a:fld id="{3908AB4D-D047-47C5-A6B4-BC8176905C71}" type="slidenum">
              <a:rPr lang="es-CR" smtClean="0"/>
              <a:t>6</a:t>
            </a:fld>
            <a:endParaRPr lang="es-CR"/>
          </a:p>
        </p:txBody>
      </p:sp>
    </p:spTree>
    <p:extLst>
      <p:ext uri="{BB962C8B-B14F-4D97-AF65-F5344CB8AC3E}">
        <p14:creationId xmlns:p14="http://schemas.microsoft.com/office/powerpoint/2010/main" val="1306147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Para administrar los documentos implementamos las cuatro operaciones fundamentales de un CRUD.</a:t>
            </a:r>
          </a:p>
          <a:p>
            <a:r>
              <a:rPr lang="es-CR" dirty="0"/>
              <a:t>Cuando creamos un producto desde la interfaz, por ejemplo, la información viaja hacia el </a:t>
            </a:r>
            <a:r>
              <a:rPr lang="es-CR" dirty="0" err="1"/>
              <a:t>backend</a:t>
            </a:r>
            <a:r>
              <a:rPr lang="es-CR" dirty="0"/>
              <a:t> y finalmente se inserta como un nuevo documento en MongoDB.</a:t>
            </a:r>
          </a:p>
          <a:p>
            <a:r>
              <a:rPr lang="es-CR" dirty="0"/>
              <a:t>// CRUD representa las operaciones conceptuales sobre los datos, mientras que GET, POST, PUT y DELETE son métodos HTTP utilizados para implementar esas operaciones mediante nuestra API.</a:t>
            </a:r>
          </a:p>
        </p:txBody>
      </p:sp>
      <p:sp>
        <p:nvSpPr>
          <p:cNvPr id="4" name="Slide Number Placeholder 3"/>
          <p:cNvSpPr>
            <a:spLocks noGrp="1"/>
          </p:cNvSpPr>
          <p:nvPr>
            <p:ph type="sldNum" sz="quarter" idx="5"/>
          </p:nvPr>
        </p:nvSpPr>
        <p:spPr/>
        <p:txBody>
          <a:bodyPr/>
          <a:lstStyle/>
          <a:p>
            <a:fld id="{3908AB4D-D047-47C5-A6B4-BC8176905C71}" type="slidenum">
              <a:rPr lang="es-CR" smtClean="0"/>
              <a:t>7</a:t>
            </a:fld>
            <a:endParaRPr lang="es-CR"/>
          </a:p>
        </p:txBody>
      </p:sp>
    </p:spTree>
    <p:extLst>
      <p:ext uri="{BB962C8B-B14F-4D97-AF65-F5344CB8AC3E}">
        <p14:creationId xmlns:p14="http://schemas.microsoft.com/office/powerpoint/2010/main" val="4259437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Aunque MongoDB proporciona flexibilidad, eso no significa que debamos permitir cualquier información. Por eso incorporamos validaciones y reglas de negocio.</a:t>
            </a:r>
          </a:p>
          <a:p>
            <a:r>
              <a:rPr lang="es-CR" dirty="0"/>
              <a:t>Validamos el stock antes de realizar una venta, utilizamos índices para campos importantes y establecemos restricciones para evitar inconsistencias.</a:t>
            </a:r>
          </a:p>
          <a:p>
            <a:r>
              <a:rPr lang="es-CR" dirty="0"/>
              <a:t>Un índice permite localizar información de manera más eficiente y también puede utilizarse para garantizar unicidad en determinados campos.</a:t>
            </a:r>
          </a:p>
        </p:txBody>
      </p:sp>
      <p:sp>
        <p:nvSpPr>
          <p:cNvPr id="4" name="Slide Number Placeholder 3"/>
          <p:cNvSpPr>
            <a:spLocks noGrp="1"/>
          </p:cNvSpPr>
          <p:nvPr>
            <p:ph type="sldNum" sz="quarter" idx="5"/>
          </p:nvPr>
        </p:nvSpPr>
        <p:spPr/>
        <p:txBody>
          <a:bodyPr/>
          <a:lstStyle/>
          <a:p>
            <a:fld id="{3908AB4D-D047-47C5-A6B4-BC8176905C71}" type="slidenum">
              <a:rPr lang="es-CR" smtClean="0"/>
              <a:t>8</a:t>
            </a:fld>
            <a:endParaRPr lang="es-CR"/>
          </a:p>
        </p:txBody>
      </p:sp>
    </p:spTree>
    <p:extLst>
      <p:ext uri="{BB962C8B-B14F-4D97-AF65-F5344CB8AC3E}">
        <p14:creationId xmlns:p14="http://schemas.microsoft.com/office/powerpoint/2010/main" val="2814955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Nuestro proyecto corresponde a una versión académica funcional. El objetivo principal era demostrar el diseño de una base NoSQL, la comunicación con una aplicación web y las operaciones CRUD.</a:t>
            </a:r>
          </a:p>
          <a:p>
            <a:r>
              <a:rPr lang="es-CR" dirty="0"/>
              <a:t>Sin embargo, la arquitectura permite continuar desarrollándolo. Entre las principales mejoras estarían autenticación y permisos, reportes más avanzados, mecanismos de respaldo, mayor seguridad y pruebas para múltiples usuarios.</a:t>
            </a:r>
          </a:p>
        </p:txBody>
      </p:sp>
      <p:sp>
        <p:nvSpPr>
          <p:cNvPr id="4" name="Slide Number Placeholder 3"/>
          <p:cNvSpPr>
            <a:spLocks noGrp="1"/>
          </p:cNvSpPr>
          <p:nvPr>
            <p:ph type="sldNum" sz="quarter" idx="5"/>
          </p:nvPr>
        </p:nvSpPr>
        <p:spPr/>
        <p:txBody>
          <a:bodyPr/>
          <a:lstStyle/>
          <a:p>
            <a:fld id="{3908AB4D-D047-47C5-A6B4-BC8176905C71}" type="slidenum">
              <a:rPr lang="es-CR" smtClean="0"/>
              <a:t>9</a:t>
            </a:fld>
            <a:endParaRPr lang="es-CR"/>
          </a:p>
        </p:txBody>
      </p:sp>
    </p:spTree>
    <p:extLst>
      <p:ext uri="{BB962C8B-B14F-4D97-AF65-F5344CB8AC3E}">
        <p14:creationId xmlns:p14="http://schemas.microsoft.com/office/powerpoint/2010/main" val="2986938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Como conclusión, este proyecto nos permitió aplicar de forma práctica los conceptos vistos durante el curso de Bases de Datos NoSQL.</a:t>
            </a:r>
          </a:p>
          <a:p>
            <a:r>
              <a:rPr lang="es-CR" dirty="0"/>
              <a:t>No solamente diseñamos las colecciones en MongoDB, sino que desarrollamos una aplicación capaz de crear, consultar, modificar y eliminar documentos y relacionar diferentes procesos del negocio.</a:t>
            </a:r>
          </a:p>
          <a:p>
            <a:r>
              <a:rPr lang="es-CR" dirty="0"/>
              <a:t>Consideramos que uno de los puntos más importantes fue integrar compras, ventas, devoluciones e inventario, porque esto demuestra cómo una base de datos puede utilizarse para representar procesos reales y no solamente almacenar información.</a:t>
            </a:r>
          </a:p>
          <a:p>
            <a:r>
              <a:rPr lang="es-CR" dirty="0"/>
              <a:t>Finalmente, MongoDB nos permitió trabajar con un modelo flexible y establecer una base que podría continuar creciendo con nuevas funcionalidades.</a:t>
            </a:r>
          </a:p>
        </p:txBody>
      </p:sp>
      <p:sp>
        <p:nvSpPr>
          <p:cNvPr id="4" name="Slide Number Placeholder 3"/>
          <p:cNvSpPr>
            <a:spLocks noGrp="1"/>
          </p:cNvSpPr>
          <p:nvPr>
            <p:ph type="sldNum" sz="quarter" idx="5"/>
          </p:nvPr>
        </p:nvSpPr>
        <p:spPr/>
        <p:txBody>
          <a:bodyPr/>
          <a:lstStyle/>
          <a:p>
            <a:fld id="{3908AB4D-D047-47C5-A6B4-BC8176905C71}" type="slidenum">
              <a:rPr lang="es-CR" smtClean="0"/>
              <a:t>10</a:t>
            </a:fld>
            <a:endParaRPr lang="es-CR"/>
          </a:p>
        </p:txBody>
      </p:sp>
    </p:spTree>
    <p:extLst>
      <p:ext uri="{BB962C8B-B14F-4D97-AF65-F5344CB8AC3E}">
        <p14:creationId xmlns:p14="http://schemas.microsoft.com/office/powerpoint/2010/main" val="215314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Lo importante en esta demostración es observar que las operaciones no se encuentran aisladas. Una transacción genera efectos sobre otros documentos relacionados</a:t>
            </a:r>
          </a:p>
        </p:txBody>
      </p:sp>
      <p:sp>
        <p:nvSpPr>
          <p:cNvPr id="4" name="Slide Number Placeholder 3"/>
          <p:cNvSpPr>
            <a:spLocks noGrp="1"/>
          </p:cNvSpPr>
          <p:nvPr>
            <p:ph type="sldNum" sz="quarter" idx="5"/>
          </p:nvPr>
        </p:nvSpPr>
        <p:spPr/>
        <p:txBody>
          <a:bodyPr/>
          <a:lstStyle/>
          <a:p>
            <a:fld id="{3908AB4D-D047-47C5-A6B4-BC8176905C71}" type="slidenum">
              <a:rPr lang="es-CR" smtClean="0"/>
              <a:t>11</a:t>
            </a:fld>
            <a:endParaRPr lang="es-CR"/>
          </a:p>
        </p:txBody>
      </p:sp>
    </p:spTree>
    <p:extLst>
      <p:ext uri="{BB962C8B-B14F-4D97-AF65-F5344CB8AC3E}">
        <p14:creationId xmlns:p14="http://schemas.microsoft.com/office/powerpoint/2010/main" val="1836125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2" name="Rectangle 1"/>
          <p:cNvSpPr/>
          <p:nvPr/>
        </p:nvSpPr>
        <p:spPr>
          <a:xfrm>
            <a:off x="7850348" y="0"/>
            <a:ext cx="4341652" cy="6858000"/>
          </a:xfrm>
          <a:prstGeom prst="rect">
            <a:avLst/>
          </a:prstGeom>
          <a:solidFill>
            <a:srgbClr val="111F3D"/>
          </a:solidFill>
          <a:ln>
            <a:solidFill>
              <a:srgbClr val="111F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595360" y="548640"/>
            <a:ext cx="2468880" cy="2468880"/>
          </a:xfrm>
          <a:prstGeom prst="roundRect">
            <a:avLst/>
          </a:prstGeom>
          <a:solidFill>
            <a:srgbClr val="2563E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95360" y="806337"/>
            <a:ext cx="2468880" cy="1862048"/>
          </a:xfrm>
          <a:prstGeom prst="rect">
            <a:avLst/>
          </a:prstGeom>
          <a:noFill/>
        </p:spPr>
        <p:txBody>
          <a:bodyPr wrap="square" anchor="ctr">
            <a:spAutoFit/>
          </a:bodyPr>
          <a:lstStyle/>
          <a:p>
            <a:pPr algn="ctr"/>
            <a:r>
              <a:rPr sz="11500" b="1" dirty="0">
                <a:solidFill>
                  <a:srgbClr val="FFFFFF"/>
                </a:solidFill>
                <a:latin typeface="Aptos"/>
              </a:rPr>
              <a:t>N</a:t>
            </a:r>
            <a:endParaRPr sz="6400" b="1" dirty="0">
              <a:solidFill>
                <a:srgbClr val="FFFFFF"/>
              </a:solidFill>
              <a:latin typeface="Aptos"/>
            </a:endParaRPr>
          </a:p>
        </p:txBody>
      </p:sp>
      <p:sp>
        <p:nvSpPr>
          <p:cNvPr id="5" name="Rounded Rectangle 4"/>
          <p:cNvSpPr/>
          <p:nvPr/>
        </p:nvSpPr>
        <p:spPr>
          <a:xfrm>
            <a:off x="686549" y="685800"/>
            <a:ext cx="1861780" cy="449072"/>
          </a:xfrm>
          <a:prstGeom prst="roundRect">
            <a:avLst/>
          </a:prstGeom>
          <a:solidFill>
            <a:srgbClr val="2563E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chemeClr val="bg1"/>
              </a:solidFill>
            </a:endParaRPr>
          </a:p>
        </p:txBody>
      </p:sp>
      <p:sp>
        <p:nvSpPr>
          <p:cNvPr id="6" name="TextBox 5"/>
          <p:cNvSpPr txBox="1"/>
          <p:nvPr/>
        </p:nvSpPr>
        <p:spPr>
          <a:xfrm>
            <a:off x="656569" y="749058"/>
            <a:ext cx="1936730" cy="338554"/>
          </a:xfrm>
          <a:prstGeom prst="rect">
            <a:avLst/>
          </a:prstGeom>
          <a:noFill/>
        </p:spPr>
        <p:txBody>
          <a:bodyPr wrap="square" anchor="t">
            <a:spAutoFit/>
          </a:bodyPr>
          <a:lstStyle/>
          <a:p>
            <a:pPr algn="ctr"/>
            <a:r>
              <a:rPr sz="1600" b="1" dirty="0">
                <a:solidFill>
                  <a:schemeClr val="bg1"/>
                </a:solidFill>
                <a:latin typeface="Aptos"/>
              </a:rPr>
              <a:t>PROYECTO FINAL</a:t>
            </a:r>
          </a:p>
        </p:txBody>
      </p:sp>
      <p:sp>
        <p:nvSpPr>
          <p:cNvPr id="7" name="TextBox 6"/>
          <p:cNvSpPr txBox="1"/>
          <p:nvPr/>
        </p:nvSpPr>
        <p:spPr>
          <a:xfrm>
            <a:off x="731520" y="1325880"/>
            <a:ext cx="6858000" cy="923330"/>
          </a:xfrm>
          <a:prstGeom prst="rect">
            <a:avLst/>
          </a:prstGeom>
          <a:noFill/>
        </p:spPr>
        <p:txBody>
          <a:bodyPr wrap="square" anchor="t">
            <a:spAutoFit/>
          </a:bodyPr>
          <a:lstStyle/>
          <a:p>
            <a:pPr algn="l"/>
            <a:r>
              <a:rPr sz="3600" b="1" dirty="0" err="1">
                <a:solidFill>
                  <a:srgbClr val="FFFFFF"/>
                </a:solidFill>
                <a:latin typeface="Aptos"/>
              </a:rPr>
              <a:t>NovaTech</a:t>
            </a:r>
            <a:br>
              <a:rPr b="1" dirty="0"/>
            </a:br>
            <a:r>
              <a:rPr b="1" dirty="0">
                <a:solidFill>
                  <a:schemeClr val="bg1">
                    <a:lumMod val="50000"/>
                  </a:schemeClr>
                </a:solidFill>
              </a:rPr>
              <a:t>Solutions S.A.</a:t>
            </a:r>
          </a:p>
        </p:txBody>
      </p:sp>
      <p:sp>
        <p:nvSpPr>
          <p:cNvPr id="8" name="TextBox 7"/>
          <p:cNvSpPr txBox="1"/>
          <p:nvPr/>
        </p:nvSpPr>
        <p:spPr>
          <a:xfrm>
            <a:off x="731520" y="2731210"/>
            <a:ext cx="6583680" cy="954107"/>
          </a:xfrm>
          <a:prstGeom prst="rect">
            <a:avLst/>
          </a:prstGeom>
          <a:noFill/>
        </p:spPr>
        <p:txBody>
          <a:bodyPr wrap="square" anchor="t">
            <a:spAutoFit/>
          </a:bodyPr>
          <a:lstStyle/>
          <a:p>
            <a:pPr algn="l"/>
            <a:r>
              <a:rPr sz="2800" b="0" dirty="0">
                <a:solidFill>
                  <a:srgbClr val="BECCE2"/>
                </a:solidFill>
                <a:latin typeface="Aptos"/>
              </a:rPr>
              <a:t>Sistema </a:t>
            </a:r>
            <a:r>
              <a:rPr sz="2800" b="0" dirty="0" err="1">
                <a:solidFill>
                  <a:srgbClr val="BECCE2"/>
                </a:solidFill>
                <a:latin typeface="Aptos"/>
              </a:rPr>
              <a:t>comercial</a:t>
            </a:r>
            <a:r>
              <a:rPr sz="2800" b="0" dirty="0">
                <a:solidFill>
                  <a:srgbClr val="BECCE2"/>
                </a:solidFill>
                <a:latin typeface="Aptos"/>
              </a:rPr>
              <a:t> e </a:t>
            </a:r>
            <a:r>
              <a:rPr sz="2800" b="0" dirty="0" err="1">
                <a:solidFill>
                  <a:srgbClr val="BECCE2"/>
                </a:solidFill>
                <a:latin typeface="Aptos"/>
              </a:rPr>
              <a:t>inventario</a:t>
            </a:r>
            <a:r>
              <a:rPr sz="2800" b="0" dirty="0">
                <a:solidFill>
                  <a:srgbClr val="BECCE2"/>
                </a:solidFill>
                <a:latin typeface="Aptos"/>
              </a:rPr>
              <a:t> </a:t>
            </a:r>
            <a:r>
              <a:rPr sz="2800" b="0" dirty="0" err="1">
                <a:solidFill>
                  <a:srgbClr val="BECCE2"/>
                </a:solidFill>
                <a:latin typeface="Aptos"/>
              </a:rPr>
              <a:t>basado</a:t>
            </a:r>
            <a:r>
              <a:rPr sz="2800" b="0" dirty="0">
                <a:solidFill>
                  <a:srgbClr val="BECCE2"/>
                </a:solidFill>
                <a:latin typeface="Aptos"/>
              </a:rPr>
              <a:t> </a:t>
            </a:r>
            <a:r>
              <a:rPr sz="2800" b="0" dirty="0" err="1">
                <a:solidFill>
                  <a:srgbClr val="BECCE2"/>
                </a:solidFill>
                <a:latin typeface="Aptos"/>
              </a:rPr>
              <a:t>en</a:t>
            </a:r>
            <a:r>
              <a:rPr sz="2800" b="0" dirty="0">
                <a:solidFill>
                  <a:srgbClr val="BECCE2"/>
                </a:solidFill>
                <a:latin typeface="Aptos"/>
              </a:rPr>
              <a:t> MongoDB</a:t>
            </a:r>
          </a:p>
        </p:txBody>
      </p:sp>
      <p:sp>
        <p:nvSpPr>
          <p:cNvPr id="9" name="TextBox 8"/>
          <p:cNvSpPr txBox="1"/>
          <p:nvPr/>
        </p:nvSpPr>
        <p:spPr>
          <a:xfrm>
            <a:off x="731520" y="3703320"/>
            <a:ext cx="2743200" cy="400110"/>
          </a:xfrm>
          <a:prstGeom prst="rect">
            <a:avLst/>
          </a:prstGeom>
          <a:noFill/>
        </p:spPr>
        <p:txBody>
          <a:bodyPr wrap="square" anchor="t">
            <a:spAutoFit/>
          </a:bodyPr>
          <a:lstStyle/>
          <a:p>
            <a:pPr algn="l"/>
            <a:r>
              <a:rPr sz="2000" b="1" dirty="0">
                <a:solidFill>
                  <a:srgbClr val="8EDCFF"/>
                </a:solidFill>
                <a:latin typeface="Aptos"/>
              </a:rPr>
              <a:t>Base de Datos NoSQL</a:t>
            </a:r>
          </a:p>
        </p:txBody>
      </p:sp>
      <p:sp>
        <p:nvSpPr>
          <p:cNvPr id="10" name="TextBox 9"/>
          <p:cNvSpPr txBox="1"/>
          <p:nvPr/>
        </p:nvSpPr>
        <p:spPr>
          <a:xfrm>
            <a:off x="731520" y="5074920"/>
            <a:ext cx="6583680" cy="323165"/>
          </a:xfrm>
          <a:prstGeom prst="rect">
            <a:avLst/>
          </a:prstGeom>
          <a:noFill/>
        </p:spPr>
        <p:txBody>
          <a:bodyPr wrap="square" anchor="t">
            <a:spAutoFit/>
          </a:bodyPr>
          <a:lstStyle/>
          <a:p>
            <a:pPr algn="l"/>
            <a:r>
              <a:rPr sz="1500" b="0" dirty="0" err="1">
                <a:solidFill>
                  <a:srgbClr val="FFFFFF"/>
                </a:solidFill>
                <a:latin typeface="Aptos"/>
              </a:rPr>
              <a:t>Náraly</a:t>
            </a:r>
            <a:r>
              <a:rPr sz="1500" b="0" dirty="0">
                <a:solidFill>
                  <a:srgbClr val="FFFFFF"/>
                </a:solidFill>
                <a:latin typeface="Aptos"/>
              </a:rPr>
              <a:t> Monge Contreras  •  Paola Calderón Espinoza  •  Mariano Jimenez Salas</a:t>
            </a:r>
          </a:p>
        </p:txBody>
      </p:sp>
      <p:sp>
        <p:nvSpPr>
          <p:cNvPr id="11" name="TextBox 10"/>
          <p:cNvSpPr txBox="1"/>
          <p:nvPr/>
        </p:nvSpPr>
        <p:spPr>
          <a:xfrm>
            <a:off x="731520" y="5806440"/>
            <a:ext cx="5029200" cy="276999"/>
          </a:xfrm>
          <a:prstGeom prst="rect">
            <a:avLst/>
          </a:prstGeom>
          <a:noFill/>
        </p:spPr>
        <p:txBody>
          <a:bodyPr wrap="square" anchor="t">
            <a:spAutoFit/>
          </a:bodyPr>
          <a:lstStyle/>
          <a:p>
            <a:pPr algn="l"/>
            <a:r>
              <a:rPr sz="1200" b="0" dirty="0">
                <a:solidFill>
                  <a:srgbClr val="AAB7CD"/>
                </a:solidFill>
                <a:latin typeface="Aptos"/>
              </a:rPr>
              <a:t>Grupo G4  |  </a:t>
            </a:r>
            <a:r>
              <a:rPr sz="1200" b="0" dirty="0" err="1">
                <a:solidFill>
                  <a:srgbClr val="AAB7CD"/>
                </a:solidFill>
                <a:latin typeface="Aptos"/>
              </a:rPr>
              <a:t>Profesor</a:t>
            </a:r>
            <a:r>
              <a:rPr sz="1200" b="0" dirty="0">
                <a:solidFill>
                  <a:srgbClr val="AAB7CD"/>
                </a:solidFill>
                <a:latin typeface="Aptos"/>
              </a:rPr>
              <a:t>: César Martinez Nash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ounded Rectangle 4">
            <a:extLst>
              <a:ext uri="{FF2B5EF4-FFF2-40B4-BE49-F238E27FC236}">
                <a16:creationId xmlns:a16="http://schemas.microsoft.com/office/drawing/2014/main" id="{C7B28BBB-AC4E-7662-2245-C1487F15F9AA}"/>
              </a:ext>
            </a:extLst>
          </p:cNvPr>
          <p:cNvSpPr/>
          <p:nvPr/>
        </p:nvSpPr>
        <p:spPr>
          <a:xfrm>
            <a:off x="539646" y="685800"/>
            <a:ext cx="5601324" cy="612648"/>
          </a:xfrm>
          <a:prstGeom prst="roundRect">
            <a:avLst/>
          </a:prstGeom>
          <a:solidFill>
            <a:srgbClr val="2563E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chemeClr val="bg1"/>
              </a:solidFill>
            </a:endParaRPr>
          </a:p>
        </p:txBody>
      </p:sp>
      <p:sp>
        <p:nvSpPr>
          <p:cNvPr id="2" name="TextBox 1"/>
          <p:cNvSpPr txBox="1"/>
          <p:nvPr/>
        </p:nvSpPr>
        <p:spPr>
          <a:xfrm>
            <a:off x="640080" y="411480"/>
            <a:ext cx="4114800" cy="274320"/>
          </a:xfrm>
          <a:prstGeom prst="rect">
            <a:avLst/>
          </a:prstGeom>
          <a:noFill/>
        </p:spPr>
        <p:txBody>
          <a:bodyPr wrap="square" anchor="t">
            <a:spAutoFit/>
          </a:bodyPr>
          <a:lstStyle/>
          <a:p>
            <a:pPr algn="l"/>
            <a:r>
              <a:rPr sz="1000" b="1">
                <a:solidFill>
                  <a:srgbClr val="2563EB"/>
                </a:solidFill>
                <a:latin typeface="Aptos"/>
              </a:rPr>
              <a:t>01 · CONTEXTO</a:t>
            </a:r>
          </a:p>
        </p:txBody>
      </p:sp>
      <p:sp>
        <p:nvSpPr>
          <p:cNvPr id="3" name="TextBox 2"/>
          <p:cNvSpPr txBox="1"/>
          <p:nvPr/>
        </p:nvSpPr>
        <p:spPr>
          <a:xfrm>
            <a:off x="640080" y="749808"/>
            <a:ext cx="10789920" cy="461665"/>
          </a:xfrm>
          <a:prstGeom prst="rect">
            <a:avLst/>
          </a:prstGeom>
          <a:noFill/>
        </p:spPr>
        <p:txBody>
          <a:bodyPr wrap="square" anchor="t">
            <a:spAutoFit/>
          </a:bodyPr>
          <a:lstStyle/>
          <a:p>
            <a:pPr algn="l"/>
            <a:r>
              <a:rPr sz="2400" b="1" dirty="0" err="1">
                <a:solidFill>
                  <a:schemeClr val="bg1"/>
                </a:solidFill>
                <a:latin typeface="Aptos"/>
              </a:rPr>
              <a:t>Problema</a:t>
            </a:r>
            <a:r>
              <a:rPr sz="2400" b="1" dirty="0">
                <a:solidFill>
                  <a:schemeClr val="bg1"/>
                </a:solidFill>
                <a:latin typeface="Aptos"/>
              </a:rPr>
              <a:t> </a:t>
            </a:r>
            <a:r>
              <a:rPr sz="2400" b="1" dirty="0" err="1">
                <a:solidFill>
                  <a:schemeClr val="bg1"/>
                </a:solidFill>
                <a:latin typeface="Aptos"/>
              </a:rPr>
              <a:t>que</a:t>
            </a:r>
            <a:r>
              <a:rPr sz="2400" b="1" dirty="0">
                <a:solidFill>
                  <a:schemeClr val="bg1"/>
                </a:solidFill>
                <a:latin typeface="Aptos"/>
              </a:rPr>
              <a:t> </a:t>
            </a:r>
            <a:r>
              <a:rPr sz="2400" b="1" dirty="0" err="1">
                <a:solidFill>
                  <a:schemeClr val="bg1"/>
                </a:solidFill>
                <a:latin typeface="Aptos"/>
              </a:rPr>
              <a:t>buscamos</a:t>
            </a:r>
            <a:r>
              <a:rPr sz="2400" b="1" dirty="0">
                <a:solidFill>
                  <a:schemeClr val="bg1"/>
                </a:solidFill>
                <a:latin typeface="Aptos"/>
              </a:rPr>
              <a:t> resolver</a:t>
            </a:r>
          </a:p>
        </p:txBody>
      </p:sp>
      <p:sp>
        <p:nvSpPr>
          <p:cNvPr id="4" name="Rounded Rectangle 3"/>
          <p:cNvSpPr/>
          <p:nvPr/>
        </p:nvSpPr>
        <p:spPr>
          <a:xfrm>
            <a:off x="640080" y="1874519"/>
            <a:ext cx="3429000" cy="356616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103120"/>
            <a:ext cx="2898648" cy="830997"/>
          </a:xfrm>
          <a:prstGeom prst="rect">
            <a:avLst/>
          </a:prstGeom>
          <a:noFill/>
        </p:spPr>
        <p:txBody>
          <a:bodyPr wrap="square" anchor="t">
            <a:spAutoFit/>
          </a:bodyPr>
          <a:lstStyle/>
          <a:p>
            <a:pPr algn="l"/>
            <a:r>
              <a:rPr sz="2400" b="1" dirty="0" err="1">
                <a:solidFill>
                  <a:srgbClr val="182230"/>
                </a:solidFill>
                <a:latin typeface="Aptos"/>
              </a:rPr>
              <a:t>Información</a:t>
            </a:r>
            <a:r>
              <a:rPr sz="2400" b="1" dirty="0">
                <a:solidFill>
                  <a:srgbClr val="182230"/>
                </a:solidFill>
                <a:latin typeface="Aptos"/>
              </a:rPr>
              <a:t> </a:t>
            </a:r>
            <a:r>
              <a:rPr sz="2400" b="1" dirty="0" err="1">
                <a:solidFill>
                  <a:srgbClr val="182230"/>
                </a:solidFill>
                <a:latin typeface="Aptos"/>
              </a:rPr>
              <a:t>dispersa</a:t>
            </a:r>
            <a:endParaRPr sz="2400" b="1" dirty="0">
              <a:solidFill>
                <a:srgbClr val="182230"/>
              </a:solidFill>
              <a:latin typeface="Aptos"/>
            </a:endParaRPr>
          </a:p>
        </p:txBody>
      </p:sp>
      <p:sp>
        <p:nvSpPr>
          <p:cNvPr id="7" name="TextBox 6"/>
          <p:cNvSpPr txBox="1"/>
          <p:nvPr/>
        </p:nvSpPr>
        <p:spPr>
          <a:xfrm>
            <a:off x="1005840" y="2967600"/>
            <a:ext cx="2898648" cy="1569660"/>
          </a:xfrm>
          <a:prstGeom prst="rect">
            <a:avLst/>
          </a:prstGeom>
          <a:noFill/>
        </p:spPr>
        <p:txBody>
          <a:bodyPr wrap="square" anchor="t">
            <a:spAutoFit/>
          </a:bodyPr>
          <a:lstStyle/>
          <a:p>
            <a:pPr algn="l"/>
            <a:r>
              <a:rPr sz="1600" b="0" dirty="0" err="1">
                <a:solidFill>
                  <a:srgbClr val="667085"/>
                </a:solidFill>
                <a:latin typeface="Aptos"/>
              </a:rPr>
              <a:t>Clientes</a:t>
            </a:r>
            <a:r>
              <a:rPr sz="1600" b="0" dirty="0">
                <a:solidFill>
                  <a:srgbClr val="667085"/>
                </a:solidFill>
                <a:latin typeface="Aptos"/>
              </a:rPr>
              <a:t>, </a:t>
            </a:r>
            <a:r>
              <a:rPr sz="1600" b="0" dirty="0" err="1">
                <a:solidFill>
                  <a:srgbClr val="667085"/>
                </a:solidFill>
                <a:latin typeface="Aptos"/>
              </a:rPr>
              <a:t>productos</a:t>
            </a:r>
            <a:r>
              <a:rPr sz="1600" b="0" dirty="0">
                <a:solidFill>
                  <a:srgbClr val="667085"/>
                </a:solidFill>
                <a:latin typeface="Aptos"/>
              </a:rPr>
              <a:t>, </a:t>
            </a:r>
            <a:r>
              <a:rPr sz="1600" b="0" dirty="0" err="1">
                <a:solidFill>
                  <a:srgbClr val="667085"/>
                </a:solidFill>
                <a:latin typeface="Aptos"/>
              </a:rPr>
              <a:t>proveedores</a:t>
            </a:r>
            <a:r>
              <a:rPr sz="1600" b="0" dirty="0">
                <a:solidFill>
                  <a:srgbClr val="667085"/>
                </a:solidFill>
                <a:latin typeface="Aptos"/>
              </a:rPr>
              <a:t>, </a:t>
            </a:r>
            <a:r>
              <a:rPr sz="1600" b="0" dirty="0" err="1">
                <a:solidFill>
                  <a:srgbClr val="667085"/>
                </a:solidFill>
                <a:latin typeface="Aptos"/>
              </a:rPr>
              <a:t>compras</a:t>
            </a:r>
            <a:r>
              <a:rPr sz="1600" b="0" dirty="0">
                <a:solidFill>
                  <a:srgbClr val="667085"/>
                </a:solidFill>
                <a:latin typeface="Aptos"/>
              </a:rPr>
              <a:t> y </a:t>
            </a:r>
            <a:r>
              <a:rPr sz="1600" b="0" dirty="0" err="1">
                <a:solidFill>
                  <a:srgbClr val="667085"/>
                </a:solidFill>
                <a:latin typeface="Aptos"/>
              </a:rPr>
              <a:t>ventas</a:t>
            </a:r>
            <a:r>
              <a:rPr sz="1600" b="0" dirty="0">
                <a:solidFill>
                  <a:srgbClr val="667085"/>
                </a:solidFill>
                <a:latin typeface="Aptos"/>
              </a:rPr>
              <a:t> se </a:t>
            </a:r>
            <a:r>
              <a:rPr sz="1600" b="0" dirty="0" err="1">
                <a:solidFill>
                  <a:srgbClr val="667085"/>
                </a:solidFill>
                <a:latin typeface="Aptos"/>
              </a:rPr>
              <a:t>gestionan</a:t>
            </a:r>
            <a:r>
              <a:rPr sz="1600" b="0" dirty="0">
                <a:solidFill>
                  <a:srgbClr val="667085"/>
                </a:solidFill>
                <a:latin typeface="Aptos"/>
              </a:rPr>
              <a:t> </a:t>
            </a:r>
            <a:r>
              <a:rPr sz="1600" b="0" dirty="0" err="1">
                <a:solidFill>
                  <a:srgbClr val="667085"/>
                </a:solidFill>
                <a:latin typeface="Aptos"/>
              </a:rPr>
              <a:t>en</a:t>
            </a:r>
            <a:r>
              <a:rPr sz="1600" b="0" dirty="0">
                <a:solidFill>
                  <a:srgbClr val="667085"/>
                </a:solidFill>
                <a:latin typeface="Aptos"/>
              </a:rPr>
              <a:t> </a:t>
            </a:r>
            <a:r>
              <a:rPr sz="1600" b="0" dirty="0" err="1">
                <a:solidFill>
                  <a:srgbClr val="667085"/>
                </a:solidFill>
                <a:latin typeface="Aptos"/>
              </a:rPr>
              <a:t>fuentes</a:t>
            </a:r>
            <a:r>
              <a:rPr sz="1600" b="0" dirty="0">
                <a:solidFill>
                  <a:srgbClr val="667085"/>
                </a:solidFill>
                <a:latin typeface="Aptos"/>
              </a:rPr>
              <a:t> </a:t>
            </a:r>
            <a:r>
              <a:rPr sz="1600" b="0" dirty="0" err="1">
                <a:solidFill>
                  <a:srgbClr val="667085"/>
                </a:solidFill>
                <a:latin typeface="Aptos"/>
              </a:rPr>
              <a:t>separadas</a:t>
            </a:r>
            <a:r>
              <a:rPr sz="1600" b="0" dirty="0">
                <a:solidFill>
                  <a:srgbClr val="667085"/>
                </a:solidFill>
                <a:latin typeface="Aptos"/>
              </a:rPr>
              <a:t>, </a:t>
            </a:r>
            <a:r>
              <a:rPr sz="1600" b="0" dirty="0" err="1">
                <a:solidFill>
                  <a:srgbClr val="667085"/>
                </a:solidFill>
                <a:latin typeface="Aptos"/>
              </a:rPr>
              <a:t>dificultando</a:t>
            </a:r>
            <a:r>
              <a:rPr sz="1600" b="0" dirty="0">
                <a:solidFill>
                  <a:srgbClr val="667085"/>
                </a:solidFill>
                <a:latin typeface="Aptos"/>
              </a:rPr>
              <a:t> </a:t>
            </a:r>
            <a:r>
              <a:rPr sz="1600" b="0" dirty="0" err="1">
                <a:solidFill>
                  <a:srgbClr val="667085"/>
                </a:solidFill>
                <a:latin typeface="Aptos"/>
              </a:rPr>
              <a:t>mantener</a:t>
            </a:r>
            <a:r>
              <a:rPr sz="1600" b="0" dirty="0">
                <a:solidFill>
                  <a:srgbClr val="667085"/>
                </a:solidFill>
                <a:latin typeface="Aptos"/>
              </a:rPr>
              <a:t> la </a:t>
            </a:r>
            <a:r>
              <a:rPr sz="1600" b="0" dirty="0" err="1">
                <a:solidFill>
                  <a:srgbClr val="667085"/>
                </a:solidFill>
                <a:latin typeface="Aptos"/>
              </a:rPr>
              <a:t>información</a:t>
            </a:r>
            <a:r>
              <a:rPr sz="1600" b="0" dirty="0">
                <a:solidFill>
                  <a:srgbClr val="667085"/>
                </a:solidFill>
                <a:latin typeface="Aptos"/>
              </a:rPr>
              <a:t> </a:t>
            </a:r>
            <a:r>
              <a:rPr sz="1600" b="0" dirty="0" err="1">
                <a:solidFill>
                  <a:srgbClr val="667085"/>
                </a:solidFill>
                <a:latin typeface="Aptos"/>
              </a:rPr>
              <a:t>actualizada</a:t>
            </a:r>
            <a:r>
              <a:rPr sz="1600" b="0" dirty="0">
                <a:solidFill>
                  <a:srgbClr val="667085"/>
                </a:solidFill>
                <a:latin typeface="Aptos"/>
              </a:rPr>
              <a:t>.</a:t>
            </a:r>
          </a:p>
        </p:txBody>
      </p:sp>
      <p:sp>
        <p:nvSpPr>
          <p:cNvPr id="8" name="Rounded Rectangle 7"/>
          <p:cNvSpPr/>
          <p:nvPr/>
        </p:nvSpPr>
        <p:spPr>
          <a:xfrm>
            <a:off x="4389120" y="1874519"/>
            <a:ext cx="3429000" cy="356616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0" y="2103120"/>
            <a:ext cx="2898648" cy="830997"/>
          </a:xfrm>
          <a:prstGeom prst="rect">
            <a:avLst/>
          </a:prstGeom>
          <a:noFill/>
        </p:spPr>
        <p:txBody>
          <a:bodyPr wrap="square" anchor="t">
            <a:spAutoFit/>
          </a:bodyPr>
          <a:lstStyle/>
          <a:p>
            <a:pPr algn="l"/>
            <a:r>
              <a:rPr sz="2400" b="1">
                <a:solidFill>
                  <a:srgbClr val="182230"/>
                </a:solidFill>
                <a:latin typeface="Aptos"/>
              </a:rPr>
              <a:t>Inventario sin trazabilidad</a:t>
            </a:r>
          </a:p>
        </p:txBody>
      </p:sp>
      <p:sp>
        <p:nvSpPr>
          <p:cNvPr id="11" name="TextBox 10"/>
          <p:cNvSpPr txBox="1"/>
          <p:nvPr/>
        </p:nvSpPr>
        <p:spPr>
          <a:xfrm>
            <a:off x="4754880" y="2967600"/>
            <a:ext cx="2898648" cy="1323439"/>
          </a:xfrm>
          <a:prstGeom prst="rect">
            <a:avLst/>
          </a:prstGeom>
          <a:noFill/>
        </p:spPr>
        <p:txBody>
          <a:bodyPr wrap="square" anchor="t">
            <a:spAutoFit/>
          </a:bodyPr>
          <a:lstStyle/>
          <a:p>
            <a:pPr algn="l"/>
            <a:r>
              <a:rPr sz="1600" b="0" dirty="0">
                <a:solidFill>
                  <a:srgbClr val="667085"/>
                </a:solidFill>
                <a:latin typeface="Aptos"/>
              </a:rPr>
              <a:t>No </a:t>
            </a:r>
            <a:r>
              <a:rPr sz="1600" b="0" dirty="0" err="1">
                <a:solidFill>
                  <a:srgbClr val="667085"/>
                </a:solidFill>
                <a:latin typeface="Aptos"/>
              </a:rPr>
              <a:t>existe</a:t>
            </a:r>
            <a:r>
              <a:rPr sz="1600" b="0" dirty="0">
                <a:solidFill>
                  <a:srgbClr val="667085"/>
                </a:solidFill>
                <a:latin typeface="Aptos"/>
              </a:rPr>
              <a:t> </a:t>
            </a:r>
            <a:r>
              <a:rPr sz="1600" b="0" dirty="0" err="1">
                <a:solidFill>
                  <a:srgbClr val="667085"/>
                </a:solidFill>
                <a:latin typeface="Aptos"/>
              </a:rPr>
              <a:t>una</a:t>
            </a:r>
            <a:r>
              <a:rPr sz="1600" b="0" dirty="0">
                <a:solidFill>
                  <a:srgbClr val="667085"/>
                </a:solidFill>
                <a:latin typeface="Aptos"/>
              </a:rPr>
              <a:t> vista </a:t>
            </a:r>
            <a:r>
              <a:rPr sz="1600" b="0" dirty="0" err="1">
                <a:solidFill>
                  <a:srgbClr val="667085"/>
                </a:solidFill>
                <a:latin typeface="Aptos"/>
              </a:rPr>
              <a:t>centralizada</a:t>
            </a:r>
            <a:r>
              <a:rPr sz="1600" b="0" dirty="0">
                <a:solidFill>
                  <a:srgbClr val="667085"/>
                </a:solidFill>
                <a:latin typeface="Aptos"/>
              </a:rPr>
              <a:t> de entradas, </a:t>
            </a:r>
            <a:r>
              <a:rPr sz="1600" b="0" dirty="0" err="1">
                <a:solidFill>
                  <a:srgbClr val="667085"/>
                </a:solidFill>
                <a:latin typeface="Aptos"/>
              </a:rPr>
              <a:t>salidas</a:t>
            </a:r>
            <a:r>
              <a:rPr sz="1600" b="0" dirty="0">
                <a:solidFill>
                  <a:srgbClr val="667085"/>
                </a:solidFill>
                <a:latin typeface="Aptos"/>
              </a:rPr>
              <a:t>, </a:t>
            </a:r>
            <a:r>
              <a:rPr sz="1600" b="0" dirty="0" err="1">
                <a:solidFill>
                  <a:srgbClr val="667085"/>
                </a:solidFill>
                <a:latin typeface="Aptos"/>
              </a:rPr>
              <a:t>devoluciones</a:t>
            </a:r>
            <a:r>
              <a:rPr sz="1600" b="0" dirty="0">
                <a:solidFill>
                  <a:srgbClr val="667085"/>
                </a:solidFill>
                <a:latin typeface="Aptos"/>
              </a:rPr>
              <a:t> y </a:t>
            </a:r>
            <a:r>
              <a:rPr sz="1600" b="0" dirty="0" err="1">
                <a:solidFill>
                  <a:srgbClr val="667085"/>
                </a:solidFill>
                <a:latin typeface="Aptos"/>
              </a:rPr>
              <a:t>disponibilidad</a:t>
            </a:r>
            <a:r>
              <a:rPr sz="1600" b="0" dirty="0">
                <a:solidFill>
                  <a:srgbClr val="667085"/>
                </a:solidFill>
                <a:latin typeface="Aptos"/>
              </a:rPr>
              <a:t> real de </a:t>
            </a:r>
            <a:r>
              <a:rPr sz="1600" b="0" dirty="0" err="1">
                <a:solidFill>
                  <a:srgbClr val="667085"/>
                </a:solidFill>
                <a:latin typeface="Aptos"/>
              </a:rPr>
              <a:t>los</a:t>
            </a:r>
            <a:r>
              <a:rPr sz="1600" b="0" dirty="0">
                <a:solidFill>
                  <a:srgbClr val="667085"/>
                </a:solidFill>
                <a:latin typeface="Aptos"/>
              </a:rPr>
              <a:t> </a:t>
            </a:r>
            <a:r>
              <a:rPr sz="1600" b="0" dirty="0" err="1">
                <a:solidFill>
                  <a:srgbClr val="667085"/>
                </a:solidFill>
                <a:latin typeface="Aptos"/>
              </a:rPr>
              <a:t>productos</a:t>
            </a:r>
            <a:r>
              <a:rPr sz="1600" b="0" dirty="0">
                <a:solidFill>
                  <a:srgbClr val="667085"/>
                </a:solidFill>
                <a:latin typeface="Aptos"/>
              </a:rPr>
              <a:t>.</a:t>
            </a:r>
          </a:p>
        </p:txBody>
      </p:sp>
      <p:sp>
        <p:nvSpPr>
          <p:cNvPr id="12" name="Rounded Rectangle 11"/>
          <p:cNvSpPr/>
          <p:nvPr/>
        </p:nvSpPr>
        <p:spPr>
          <a:xfrm>
            <a:off x="8138160" y="1874519"/>
            <a:ext cx="3429000" cy="356616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0" y="2103120"/>
            <a:ext cx="2898648" cy="461665"/>
          </a:xfrm>
          <a:prstGeom prst="rect">
            <a:avLst/>
          </a:prstGeom>
          <a:noFill/>
        </p:spPr>
        <p:txBody>
          <a:bodyPr wrap="square" anchor="t">
            <a:spAutoFit/>
          </a:bodyPr>
          <a:lstStyle/>
          <a:p>
            <a:pPr algn="l"/>
            <a:r>
              <a:rPr sz="2400" b="1">
                <a:solidFill>
                  <a:srgbClr val="182230"/>
                </a:solidFill>
                <a:latin typeface="Aptos"/>
              </a:rPr>
              <a:t>Datos variables</a:t>
            </a:r>
          </a:p>
        </p:txBody>
      </p:sp>
      <p:sp>
        <p:nvSpPr>
          <p:cNvPr id="15" name="TextBox 14"/>
          <p:cNvSpPr txBox="1"/>
          <p:nvPr/>
        </p:nvSpPr>
        <p:spPr>
          <a:xfrm>
            <a:off x="8503920" y="2967600"/>
            <a:ext cx="2898648" cy="1323439"/>
          </a:xfrm>
          <a:prstGeom prst="rect">
            <a:avLst/>
          </a:prstGeom>
          <a:noFill/>
        </p:spPr>
        <p:txBody>
          <a:bodyPr wrap="square" anchor="t">
            <a:spAutoFit/>
          </a:bodyPr>
          <a:lstStyle/>
          <a:p>
            <a:pPr algn="l"/>
            <a:r>
              <a:rPr sz="1600" b="0">
                <a:solidFill>
                  <a:srgbClr val="667085"/>
                </a:solidFill>
                <a:latin typeface="Aptos"/>
              </a:rPr>
              <a:t>Productos, proveedores y transacciones pueden requerir estructuras distintas, por lo que un esquema rígido limita la evolución.</a:t>
            </a:r>
          </a:p>
        </p:txBody>
      </p:sp>
      <p:sp>
        <p:nvSpPr>
          <p:cNvPr id="16" name="TextBox 15"/>
          <p:cNvSpPr txBox="1"/>
          <p:nvPr/>
        </p:nvSpPr>
        <p:spPr>
          <a:xfrm>
            <a:off x="640080" y="5715000"/>
            <a:ext cx="10881360" cy="457200"/>
          </a:xfrm>
          <a:prstGeom prst="rect">
            <a:avLst/>
          </a:prstGeom>
          <a:noFill/>
        </p:spPr>
        <p:txBody>
          <a:bodyPr wrap="square" anchor="t">
            <a:spAutoFit/>
          </a:bodyPr>
          <a:lstStyle/>
          <a:p>
            <a:pPr algn="ctr"/>
            <a:r>
              <a:rPr sz="1500" b="1">
                <a:solidFill>
                  <a:srgbClr val="182230"/>
                </a:solidFill>
                <a:latin typeface="Aptos"/>
              </a:rPr>
              <a:t>Impacto: duplicidad, errores, consultas lentas y reportes menos confiables.</a:t>
            </a:r>
          </a:p>
        </p:txBody>
      </p:sp>
      <p:sp>
        <p:nvSpPr>
          <p:cNvPr id="17" name="TextBox 16"/>
          <p:cNvSpPr txBox="1"/>
          <p:nvPr/>
        </p:nvSpPr>
        <p:spPr>
          <a:xfrm>
            <a:off x="640080" y="6519672"/>
            <a:ext cx="5029200" cy="164592"/>
          </a:xfrm>
          <a:prstGeom prst="rect">
            <a:avLst/>
          </a:prstGeom>
          <a:noFill/>
        </p:spPr>
        <p:txBody>
          <a:bodyPr wrap="square" anchor="t">
            <a:spAutoFit/>
          </a:bodyPr>
          <a:lstStyle/>
          <a:p>
            <a:pPr algn="l"/>
            <a:r>
              <a:rPr sz="800" b="1">
                <a:solidFill>
                  <a:srgbClr val="667085"/>
                </a:solidFill>
                <a:latin typeface="Aptos"/>
              </a:rPr>
              <a:t>NOVA TECH SOLUTIONS  •  BASE DE DATOS NOSQL</a:t>
            </a:r>
          </a:p>
        </p:txBody>
      </p:sp>
      <p:sp>
        <p:nvSpPr>
          <p:cNvPr id="18" name="TextBox 17"/>
          <p:cNvSpPr txBox="1"/>
          <p:nvPr/>
        </p:nvSpPr>
        <p:spPr>
          <a:xfrm>
            <a:off x="11155680" y="6492240"/>
            <a:ext cx="411480" cy="182880"/>
          </a:xfrm>
          <a:prstGeom prst="rect">
            <a:avLst/>
          </a:prstGeom>
          <a:noFill/>
        </p:spPr>
        <p:txBody>
          <a:bodyPr wrap="square" anchor="t">
            <a:spAutoFit/>
          </a:bodyPr>
          <a:lstStyle/>
          <a:p>
            <a:pPr algn="r"/>
            <a:r>
              <a:rPr sz="800" b="1">
                <a:solidFill>
                  <a:srgbClr val="667085"/>
                </a:solidFill>
                <a:latin typeface="Aptos"/>
              </a:rPr>
              <a:t>2</a:t>
            </a:r>
          </a:p>
        </p:txBody>
      </p:sp>
      <p:sp>
        <p:nvSpPr>
          <p:cNvPr id="24" name="Rounded Rectangle 4">
            <a:extLst>
              <a:ext uri="{FF2B5EF4-FFF2-40B4-BE49-F238E27FC236}">
                <a16:creationId xmlns:a16="http://schemas.microsoft.com/office/drawing/2014/main" id="{DFB4807B-2BC2-0BD4-38A7-0BABB037DD88}"/>
              </a:ext>
            </a:extLst>
          </p:cNvPr>
          <p:cNvSpPr/>
          <p:nvPr/>
        </p:nvSpPr>
        <p:spPr>
          <a:xfrm>
            <a:off x="816703" y="2192157"/>
            <a:ext cx="73152" cy="301752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8">
            <a:extLst>
              <a:ext uri="{FF2B5EF4-FFF2-40B4-BE49-F238E27FC236}">
                <a16:creationId xmlns:a16="http://schemas.microsoft.com/office/drawing/2014/main" id="{4B96233B-0AB9-AD77-F346-C928790161FC}"/>
              </a:ext>
            </a:extLst>
          </p:cNvPr>
          <p:cNvSpPr/>
          <p:nvPr/>
        </p:nvSpPr>
        <p:spPr>
          <a:xfrm>
            <a:off x="4571520" y="2192157"/>
            <a:ext cx="73152" cy="30175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12">
            <a:extLst>
              <a:ext uri="{FF2B5EF4-FFF2-40B4-BE49-F238E27FC236}">
                <a16:creationId xmlns:a16="http://schemas.microsoft.com/office/drawing/2014/main" id="{A7E9BD2A-4F33-C2E2-A910-D702E2232EE3}"/>
              </a:ext>
            </a:extLst>
          </p:cNvPr>
          <p:cNvSpPr/>
          <p:nvPr/>
        </p:nvSpPr>
        <p:spPr>
          <a:xfrm>
            <a:off x="8338367" y="2192157"/>
            <a:ext cx="73152" cy="3017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40" name="Rounded Rectangle 4">
            <a:extLst>
              <a:ext uri="{FF2B5EF4-FFF2-40B4-BE49-F238E27FC236}">
                <a16:creationId xmlns:a16="http://schemas.microsoft.com/office/drawing/2014/main" id="{B5099E07-6850-DE06-7999-19E7936A9742}"/>
              </a:ext>
            </a:extLst>
          </p:cNvPr>
          <p:cNvSpPr/>
          <p:nvPr/>
        </p:nvSpPr>
        <p:spPr>
          <a:xfrm>
            <a:off x="539645" y="685800"/>
            <a:ext cx="8906105" cy="612648"/>
          </a:xfrm>
          <a:prstGeom prst="roundRect">
            <a:avLst/>
          </a:prstGeom>
          <a:solidFill>
            <a:srgbClr val="2563E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chemeClr val="bg1"/>
              </a:solidFill>
            </a:endParaRPr>
          </a:p>
        </p:txBody>
      </p:sp>
      <p:sp>
        <p:nvSpPr>
          <p:cNvPr id="2" name="TextBox 1"/>
          <p:cNvSpPr txBox="1"/>
          <p:nvPr/>
        </p:nvSpPr>
        <p:spPr>
          <a:xfrm>
            <a:off x="640080" y="411480"/>
            <a:ext cx="4114800" cy="274320"/>
          </a:xfrm>
          <a:prstGeom prst="rect">
            <a:avLst/>
          </a:prstGeom>
          <a:noFill/>
        </p:spPr>
        <p:txBody>
          <a:bodyPr wrap="square" anchor="t">
            <a:spAutoFit/>
          </a:bodyPr>
          <a:lstStyle/>
          <a:p>
            <a:pPr algn="l"/>
            <a:r>
              <a:rPr sz="1000" b="1" dirty="0">
                <a:solidFill>
                  <a:srgbClr val="2563EB"/>
                </a:solidFill>
                <a:latin typeface="Aptos"/>
              </a:rPr>
              <a:t>02 · SOLUCIÓN</a:t>
            </a:r>
          </a:p>
        </p:txBody>
      </p:sp>
      <p:sp>
        <p:nvSpPr>
          <p:cNvPr id="3" name="TextBox 2"/>
          <p:cNvSpPr txBox="1"/>
          <p:nvPr/>
        </p:nvSpPr>
        <p:spPr>
          <a:xfrm>
            <a:off x="640080" y="749808"/>
            <a:ext cx="10789920" cy="507831"/>
          </a:xfrm>
          <a:prstGeom prst="rect">
            <a:avLst/>
          </a:prstGeom>
          <a:noFill/>
        </p:spPr>
        <p:txBody>
          <a:bodyPr wrap="square" anchor="t">
            <a:spAutoFit/>
          </a:bodyPr>
          <a:lstStyle/>
          <a:p>
            <a:pPr algn="l"/>
            <a:r>
              <a:rPr sz="2700" b="1" dirty="0">
                <a:solidFill>
                  <a:schemeClr val="bg1"/>
                </a:solidFill>
                <a:latin typeface="Aptos"/>
              </a:rPr>
              <a:t>Una </a:t>
            </a:r>
            <a:r>
              <a:rPr sz="2700" b="1" dirty="0" err="1">
                <a:solidFill>
                  <a:schemeClr val="bg1"/>
                </a:solidFill>
                <a:latin typeface="Aptos"/>
              </a:rPr>
              <a:t>aplicación</a:t>
            </a:r>
            <a:r>
              <a:rPr sz="2700" b="1" dirty="0">
                <a:solidFill>
                  <a:schemeClr val="bg1"/>
                </a:solidFill>
                <a:latin typeface="Aptos"/>
              </a:rPr>
              <a:t> web </a:t>
            </a:r>
            <a:r>
              <a:rPr sz="2700" b="1" dirty="0" err="1">
                <a:solidFill>
                  <a:schemeClr val="bg1"/>
                </a:solidFill>
                <a:latin typeface="Aptos"/>
              </a:rPr>
              <a:t>conectada</a:t>
            </a:r>
            <a:r>
              <a:rPr sz="2700" b="1" dirty="0">
                <a:solidFill>
                  <a:schemeClr val="bg1"/>
                </a:solidFill>
                <a:latin typeface="Aptos"/>
              </a:rPr>
              <a:t> a </a:t>
            </a:r>
            <a:r>
              <a:rPr sz="2700" b="1" dirty="0" err="1">
                <a:solidFill>
                  <a:schemeClr val="bg1"/>
                </a:solidFill>
                <a:latin typeface="Aptos"/>
              </a:rPr>
              <a:t>una</a:t>
            </a:r>
            <a:r>
              <a:rPr sz="2700" b="1" dirty="0">
                <a:solidFill>
                  <a:schemeClr val="bg1"/>
                </a:solidFill>
                <a:latin typeface="Aptos"/>
              </a:rPr>
              <a:t> base documental</a:t>
            </a:r>
          </a:p>
        </p:txBody>
      </p:sp>
      <p:sp>
        <p:nvSpPr>
          <p:cNvPr id="4" name="TextBox 3"/>
          <p:cNvSpPr txBox="1"/>
          <p:nvPr/>
        </p:nvSpPr>
        <p:spPr>
          <a:xfrm>
            <a:off x="640080" y="1417320"/>
            <a:ext cx="10789920" cy="457200"/>
          </a:xfrm>
          <a:prstGeom prst="rect">
            <a:avLst/>
          </a:prstGeom>
          <a:noFill/>
        </p:spPr>
        <p:txBody>
          <a:bodyPr wrap="square" anchor="t">
            <a:spAutoFit/>
          </a:bodyPr>
          <a:lstStyle/>
          <a:p>
            <a:pPr algn="l"/>
            <a:r>
              <a:rPr sz="1400" b="0">
                <a:solidFill>
                  <a:srgbClr val="667085"/>
                </a:solidFill>
                <a:latin typeface="Aptos"/>
              </a:rPr>
              <a:t>La propuesta centraliza la operación comercial en NovaTechDB y expone los procesos mediante una interfaz web y una API.</a:t>
            </a:r>
          </a:p>
        </p:txBody>
      </p:sp>
      <p:sp>
        <p:nvSpPr>
          <p:cNvPr id="5" name="Rounded Rectangle 4"/>
          <p:cNvSpPr/>
          <p:nvPr/>
        </p:nvSpPr>
        <p:spPr>
          <a:xfrm>
            <a:off x="731520" y="2331720"/>
            <a:ext cx="1691640" cy="123444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p:cNvSpPr txBox="1"/>
          <p:nvPr/>
        </p:nvSpPr>
        <p:spPr>
          <a:xfrm>
            <a:off x="841248" y="2578608"/>
            <a:ext cx="1463040" cy="369332"/>
          </a:xfrm>
          <a:prstGeom prst="rect">
            <a:avLst/>
          </a:prstGeom>
          <a:noFill/>
        </p:spPr>
        <p:txBody>
          <a:bodyPr wrap="square" anchor="t">
            <a:spAutoFit/>
          </a:bodyPr>
          <a:lstStyle/>
          <a:p>
            <a:pPr algn="ctr"/>
            <a:r>
              <a:rPr b="1">
                <a:solidFill>
                  <a:srgbClr val="182230"/>
                </a:solidFill>
                <a:latin typeface="Aptos"/>
              </a:rPr>
              <a:t>Interfaz</a:t>
            </a:r>
          </a:p>
        </p:txBody>
      </p:sp>
      <p:sp>
        <p:nvSpPr>
          <p:cNvPr id="7" name="TextBox 6"/>
          <p:cNvSpPr txBox="1"/>
          <p:nvPr/>
        </p:nvSpPr>
        <p:spPr>
          <a:xfrm>
            <a:off x="841248" y="2944368"/>
            <a:ext cx="1463040" cy="261610"/>
          </a:xfrm>
          <a:prstGeom prst="rect">
            <a:avLst/>
          </a:prstGeom>
          <a:noFill/>
        </p:spPr>
        <p:txBody>
          <a:bodyPr wrap="square" anchor="t">
            <a:spAutoFit/>
          </a:bodyPr>
          <a:lstStyle/>
          <a:p>
            <a:pPr algn="ctr"/>
            <a:r>
              <a:rPr sz="1100" b="0">
                <a:solidFill>
                  <a:srgbClr val="667085"/>
                </a:solidFill>
                <a:latin typeface="Aptos"/>
              </a:rPr>
              <a:t>EJS + Bootstrap</a:t>
            </a:r>
          </a:p>
        </p:txBody>
      </p:sp>
      <p:cxnSp>
        <p:nvCxnSpPr>
          <p:cNvPr id="8" name="Connector 7"/>
          <p:cNvCxnSpPr/>
          <p:nvPr/>
        </p:nvCxnSpPr>
        <p:spPr>
          <a:xfrm>
            <a:off x="2450591" y="2944368"/>
            <a:ext cx="539497"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63240" y="2331720"/>
            <a:ext cx="1691640" cy="123444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3172968" y="2578608"/>
            <a:ext cx="1463040" cy="369332"/>
          </a:xfrm>
          <a:prstGeom prst="rect">
            <a:avLst/>
          </a:prstGeom>
          <a:noFill/>
        </p:spPr>
        <p:txBody>
          <a:bodyPr wrap="square" anchor="t">
            <a:spAutoFit/>
          </a:bodyPr>
          <a:lstStyle/>
          <a:p>
            <a:pPr algn="ctr"/>
            <a:r>
              <a:rPr b="1">
                <a:solidFill>
                  <a:srgbClr val="182230"/>
                </a:solidFill>
                <a:latin typeface="Aptos"/>
              </a:rPr>
              <a:t>Rutas</a:t>
            </a:r>
          </a:p>
        </p:txBody>
      </p:sp>
      <p:sp>
        <p:nvSpPr>
          <p:cNvPr id="11" name="TextBox 10"/>
          <p:cNvSpPr txBox="1"/>
          <p:nvPr/>
        </p:nvSpPr>
        <p:spPr>
          <a:xfrm>
            <a:off x="3172968" y="2944368"/>
            <a:ext cx="1463040" cy="261610"/>
          </a:xfrm>
          <a:prstGeom prst="rect">
            <a:avLst/>
          </a:prstGeom>
          <a:noFill/>
        </p:spPr>
        <p:txBody>
          <a:bodyPr wrap="square" anchor="t">
            <a:spAutoFit/>
          </a:bodyPr>
          <a:lstStyle/>
          <a:p>
            <a:pPr algn="ctr"/>
            <a:r>
              <a:rPr sz="1100" b="0">
                <a:solidFill>
                  <a:srgbClr val="667085"/>
                </a:solidFill>
                <a:latin typeface="Aptos"/>
              </a:rPr>
              <a:t>Express</a:t>
            </a:r>
          </a:p>
        </p:txBody>
      </p:sp>
      <p:cxnSp>
        <p:nvCxnSpPr>
          <p:cNvPr id="12" name="Connector 11"/>
          <p:cNvCxnSpPr/>
          <p:nvPr/>
        </p:nvCxnSpPr>
        <p:spPr>
          <a:xfrm>
            <a:off x="4782312" y="2944368"/>
            <a:ext cx="539496"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394960" y="2331720"/>
            <a:ext cx="1691640" cy="123444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5367528" y="2578608"/>
            <a:ext cx="1746504" cy="369332"/>
          </a:xfrm>
          <a:prstGeom prst="rect">
            <a:avLst/>
          </a:prstGeom>
          <a:noFill/>
        </p:spPr>
        <p:txBody>
          <a:bodyPr wrap="square" anchor="t">
            <a:spAutoFit/>
          </a:bodyPr>
          <a:lstStyle/>
          <a:p>
            <a:pPr algn="ctr"/>
            <a:r>
              <a:rPr b="1" dirty="0" err="1">
                <a:solidFill>
                  <a:srgbClr val="182230"/>
                </a:solidFill>
                <a:latin typeface="Aptos"/>
              </a:rPr>
              <a:t>Controladores</a:t>
            </a:r>
            <a:endParaRPr b="1" dirty="0">
              <a:solidFill>
                <a:srgbClr val="182230"/>
              </a:solidFill>
              <a:latin typeface="Aptos"/>
            </a:endParaRPr>
          </a:p>
        </p:txBody>
      </p:sp>
      <p:sp>
        <p:nvSpPr>
          <p:cNvPr id="15" name="TextBox 14"/>
          <p:cNvSpPr txBox="1"/>
          <p:nvPr/>
        </p:nvSpPr>
        <p:spPr>
          <a:xfrm>
            <a:off x="5504688" y="2944368"/>
            <a:ext cx="1463040" cy="261610"/>
          </a:xfrm>
          <a:prstGeom prst="rect">
            <a:avLst/>
          </a:prstGeom>
          <a:noFill/>
        </p:spPr>
        <p:txBody>
          <a:bodyPr wrap="square" anchor="t">
            <a:spAutoFit/>
          </a:bodyPr>
          <a:lstStyle/>
          <a:p>
            <a:pPr algn="ctr"/>
            <a:r>
              <a:rPr sz="1100" b="0">
                <a:solidFill>
                  <a:srgbClr val="667085"/>
                </a:solidFill>
                <a:latin typeface="Aptos"/>
              </a:rPr>
              <a:t>Lógica de negocio</a:t>
            </a:r>
          </a:p>
        </p:txBody>
      </p:sp>
      <p:cxnSp>
        <p:nvCxnSpPr>
          <p:cNvPr id="16" name="Connector 15"/>
          <p:cNvCxnSpPr/>
          <p:nvPr/>
        </p:nvCxnSpPr>
        <p:spPr>
          <a:xfrm>
            <a:off x="7114032" y="2944368"/>
            <a:ext cx="539495"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26679" y="2331720"/>
            <a:ext cx="1691640" cy="123444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TextBox 17"/>
          <p:cNvSpPr txBox="1"/>
          <p:nvPr/>
        </p:nvSpPr>
        <p:spPr>
          <a:xfrm>
            <a:off x="7836407" y="2578608"/>
            <a:ext cx="1463040" cy="369332"/>
          </a:xfrm>
          <a:prstGeom prst="rect">
            <a:avLst/>
          </a:prstGeom>
          <a:noFill/>
        </p:spPr>
        <p:txBody>
          <a:bodyPr wrap="square" anchor="t">
            <a:spAutoFit/>
          </a:bodyPr>
          <a:lstStyle/>
          <a:p>
            <a:pPr algn="ctr"/>
            <a:r>
              <a:rPr b="1">
                <a:solidFill>
                  <a:srgbClr val="182230"/>
                </a:solidFill>
                <a:latin typeface="Aptos"/>
              </a:rPr>
              <a:t>Modelos</a:t>
            </a:r>
          </a:p>
        </p:txBody>
      </p:sp>
      <p:sp>
        <p:nvSpPr>
          <p:cNvPr id="19" name="TextBox 18"/>
          <p:cNvSpPr txBox="1"/>
          <p:nvPr/>
        </p:nvSpPr>
        <p:spPr>
          <a:xfrm>
            <a:off x="7836407" y="2944368"/>
            <a:ext cx="1463040" cy="261610"/>
          </a:xfrm>
          <a:prstGeom prst="rect">
            <a:avLst/>
          </a:prstGeom>
          <a:noFill/>
        </p:spPr>
        <p:txBody>
          <a:bodyPr wrap="square" anchor="t">
            <a:spAutoFit/>
          </a:bodyPr>
          <a:lstStyle/>
          <a:p>
            <a:pPr algn="ctr"/>
            <a:r>
              <a:rPr sz="1100" b="0">
                <a:solidFill>
                  <a:srgbClr val="667085"/>
                </a:solidFill>
                <a:latin typeface="Aptos"/>
              </a:rPr>
              <a:t>Mongoose</a:t>
            </a:r>
          </a:p>
        </p:txBody>
      </p:sp>
      <p:cxnSp>
        <p:nvCxnSpPr>
          <p:cNvPr id="20" name="Connector 19"/>
          <p:cNvCxnSpPr/>
          <p:nvPr/>
        </p:nvCxnSpPr>
        <p:spPr>
          <a:xfrm>
            <a:off x="9445751" y="2944368"/>
            <a:ext cx="310897"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829800" y="2331720"/>
            <a:ext cx="1645920" cy="123444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TextBox 21"/>
          <p:cNvSpPr txBox="1"/>
          <p:nvPr/>
        </p:nvSpPr>
        <p:spPr>
          <a:xfrm>
            <a:off x="9829800" y="2578608"/>
            <a:ext cx="1645920" cy="369332"/>
          </a:xfrm>
          <a:prstGeom prst="rect">
            <a:avLst/>
          </a:prstGeom>
          <a:noFill/>
        </p:spPr>
        <p:txBody>
          <a:bodyPr wrap="square" anchor="t">
            <a:spAutoFit/>
          </a:bodyPr>
          <a:lstStyle/>
          <a:p>
            <a:pPr algn="ctr"/>
            <a:r>
              <a:rPr b="1" dirty="0">
                <a:solidFill>
                  <a:srgbClr val="182230"/>
                </a:solidFill>
                <a:latin typeface="Aptos"/>
              </a:rPr>
              <a:t>Base de </a:t>
            </a:r>
            <a:r>
              <a:rPr b="1" dirty="0" err="1">
                <a:solidFill>
                  <a:srgbClr val="182230"/>
                </a:solidFill>
                <a:latin typeface="Aptos"/>
              </a:rPr>
              <a:t>datos</a:t>
            </a:r>
            <a:endParaRPr b="1" dirty="0">
              <a:solidFill>
                <a:srgbClr val="182230"/>
              </a:solidFill>
              <a:latin typeface="Aptos"/>
            </a:endParaRPr>
          </a:p>
        </p:txBody>
      </p:sp>
      <p:sp>
        <p:nvSpPr>
          <p:cNvPr id="23" name="TextBox 22"/>
          <p:cNvSpPr txBox="1"/>
          <p:nvPr/>
        </p:nvSpPr>
        <p:spPr>
          <a:xfrm>
            <a:off x="9939528" y="2944368"/>
            <a:ext cx="1463040" cy="261610"/>
          </a:xfrm>
          <a:prstGeom prst="rect">
            <a:avLst/>
          </a:prstGeom>
          <a:noFill/>
        </p:spPr>
        <p:txBody>
          <a:bodyPr wrap="square" anchor="t">
            <a:spAutoFit/>
          </a:bodyPr>
          <a:lstStyle/>
          <a:p>
            <a:pPr algn="ctr"/>
            <a:r>
              <a:rPr sz="1100" b="0">
                <a:solidFill>
                  <a:srgbClr val="667085"/>
                </a:solidFill>
                <a:latin typeface="Aptos"/>
              </a:rPr>
              <a:t>MongoDB</a:t>
            </a:r>
          </a:p>
        </p:txBody>
      </p:sp>
      <p:sp>
        <p:nvSpPr>
          <p:cNvPr id="24" name="Rounded Rectangle 23"/>
          <p:cNvSpPr/>
          <p:nvPr/>
        </p:nvSpPr>
        <p:spPr>
          <a:xfrm>
            <a:off x="1005840" y="4251960"/>
            <a:ext cx="1554480" cy="310896"/>
          </a:xfrm>
          <a:prstGeom prst="roundRect">
            <a:avLst/>
          </a:prstGeom>
          <a:solidFill>
            <a:srgbClr val="EEF5FF"/>
          </a:solidFill>
          <a:ln>
            <a:solidFill>
              <a:srgbClr val="EE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1005840" y="4270248"/>
            <a:ext cx="1554480" cy="276999"/>
          </a:xfrm>
          <a:prstGeom prst="rect">
            <a:avLst/>
          </a:prstGeom>
          <a:noFill/>
        </p:spPr>
        <p:txBody>
          <a:bodyPr wrap="square" anchor="t">
            <a:spAutoFit/>
          </a:bodyPr>
          <a:lstStyle/>
          <a:p>
            <a:pPr algn="ctr"/>
            <a:r>
              <a:rPr sz="1200">
                <a:solidFill>
                  <a:srgbClr val="2563EB"/>
                </a:solidFill>
                <a:latin typeface="Aptos"/>
              </a:rPr>
              <a:t>MVC simplificada</a:t>
            </a:r>
          </a:p>
        </p:txBody>
      </p:sp>
      <p:sp>
        <p:nvSpPr>
          <p:cNvPr id="26" name="Rounded Rectangle 25"/>
          <p:cNvSpPr/>
          <p:nvPr/>
        </p:nvSpPr>
        <p:spPr>
          <a:xfrm>
            <a:off x="2834640" y="4251960"/>
            <a:ext cx="1920240" cy="310896"/>
          </a:xfrm>
          <a:prstGeom prst="roundRect">
            <a:avLst/>
          </a:prstGeom>
          <a:solidFill>
            <a:srgbClr val="EEF5FF"/>
          </a:solidFill>
          <a:ln>
            <a:solidFill>
              <a:srgbClr val="EE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7" name="TextBox 26"/>
          <p:cNvSpPr txBox="1"/>
          <p:nvPr/>
        </p:nvSpPr>
        <p:spPr>
          <a:xfrm>
            <a:off x="2834640" y="4270248"/>
            <a:ext cx="1920240" cy="276999"/>
          </a:xfrm>
          <a:prstGeom prst="rect">
            <a:avLst/>
          </a:prstGeom>
          <a:noFill/>
        </p:spPr>
        <p:txBody>
          <a:bodyPr wrap="square" anchor="t">
            <a:spAutoFit/>
          </a:bodyPr>
          <a:lstStyle/>
          <a:p>
            <a:pPr algn="ctr"/>
            <a:r>
              <a:rPr sz="1200">
                <a:solidFill>
                  <a:srgbClr val="2563EB"/>
                </a:solidFill>
                <a:latin typeface="Aptos"/>
              </a:rPr>
              <a:t>Servicios reutilizables</a:t>
            </a:r>
          </a:p>
        </p:txBody>
      </p:sp>
      <p:sp>
        <p:nvSpPr>
          <p:cNvPr id="28" name="Rounded Rectangle 27"/>
          <p:cNvSpPr/>
          <p:nvPr/>
        </p:nvSpPr>
        <p:spPr>
          <a:xfrm>
            <a:off x="5074920" y="4251960"/>
            <a:ext cx="1143000" cy="310896"/>
          </a:xfrm>
          <a:prstGeom prst="roundRect">
            <a:avLst/>
          </a:prstGeom>
          <a:solidFill>
            <a:srgbClr val="EEF5FF"/>
          </a:solidFill>
          <a:ln>
            <a:solidFill>
              <a:srgbClr val="EE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5074920" y="4270248"/>
            <a:ext cx="1143000" cy="276999"/>
          </a:xfrm>
          <a:prstGeom prst="rect">
            <a:avLst/>
          </a:prstGeom>
          <a:noFill/>
        </p:spPr>
        <p:txBody>
          <a:bodyPr wrap="square" anchor="t">
            <a:spAutoFit/>
          </a:bodyPr>
          <a:lstStyle/>
          <a:p>
            <a:pPr algn="ctr"/>
            <a:r>
              <a:rPr sz="1200">
                <a:solidFill>
                  <a:srgbClr val="2563EB"/>
                </a:solidFill>
                <a:latin typeface="Aptos"/>
              </a:rPr>
              <a:t>API JSON</a:t>
            </a:r>
          </a:p>
        </p:txBody>
      </p:sp>
      <p:sp>
        <p:nvSpPr>
          <p:cNvPr id="30" name="Rounded Rectangle 29"/>
          <p:cNvSpPr/>
          <p:nvPr/>
        </p:nvSpPr>
        <p:spPr>
          <a:xfrm>
            <a:off x="6537960" y="4251960"/>
            <a:ext cx="1325880" cy="310896"/>
          </a:xfrm>
          <a:prstGeom prst="roundRect">
            <a:avLst/>
          </a:prstGeom>
          <a:solidFill>
            <a:srgbClr val="EEF5FF"/>
          </a:solidFill>
          <a:ln>
            <a:solidFill>
              <a:srgbClr val="EE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1" name="TextBox 30"/>
          <p:cNvSpPr txBox="1"/>
          <p:nvPr/>
        </p:nvSpPr>
        <p:spPr>
          <a:xfrm>
            <a:off x="6537960" y="4270248"/>
            <a:ext cx="1325880" cy="276999"/>
          </a:xfrm>
          <a:prstGeom prst="rect">
            <a:avLst/>
          </a:prstGeom>
          <a:noFill/>
        </p:spPr>
        <p:txBody>
          <a:bodyPr wrap="square" anchor="t">
            <a:spAutoFit/>
          </a:bodyPr>
          <a:lstStyle/>
          <a:p>
            <a:pPr algn="ctr"/>
            <a:r>
              <a:rPr sz="1200">
                <a:solidFill>
                  <a:srgbClr val="2563EB"/>
                </a:solidFill>
                <a:latin typeface="Aptos"/>
              </a:rPr>
              <a:t>Validaciones</a:t>
            </a:r>
          </a:p>
        </p:txBody>
      </p:sp>
      <p:sp>
        <p:nvSpPr>
          <p:cNvPr id="32" name="Rounded Rectangle 31"/>
          <p:cNvSpPr/>
          <p:nvPr/>
        </p:nvSpPr>
        <p:spPr>
          <a:xfrm>
            <a:off x="8183879" y="4251960"/>
            <a:ext cx="960120" cy="310896"/>
          </a:xfrm>
          <a:prstGeom prst="roundRect">
            <a:avLst/>
          </a:prstGeom>
          <a:solidFill>
            <a:srgbClr val="EEF5FF"/>
          </a:solidFill>
          <a:ln>
            <a:solidFill>
              <a:srgbClr val="EE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8183879" y="4270248"/>
            <a:ext cx="960120" cy="276999"/>
          </a:xfrm>
          <a:prstGeom prst="rect">
            <a:avLst/>
          </a:prstGeom>
          <a:noFill/>
        </p:spPr>
        <p:txBody>
          <a:bodyPr wrap="square" anchor="t">
            <a:spAutoFit/>
          </a:bodyPr>
          <a:lstStyle/>
          <a:p>
            <a:pPr algn="ctr"/>
            <a:r>
              <a:rPr sz="1200">
                <a:solidFill>
                  <a:srgbClr val="2563EB"/>
                </a:solidFill>
                <a:latin typeface="Aptos"/>
              </a:rPr>
              <a:t>Índices</a:t>
            </a:r>
          </a:p>
        </p:txBody>
      </p:sp>
      <p:sp>
        <p:nvSpPr>
          <p:cNvPr id="34" name="Rounded Rectangle 33"/>
          <p:cNvSpPr/>
          <p:nvPr/>
        </p:nvSpPr>
        <p:spPr>
          <a:xfrm>
            <a:off x="9418320" y="4251960"/>
            <a:ext cx="2057400" cy="310896"/>
          </a:xfrm>
          <a:prstGeom prst="roundRect">
            <a:avLst/>
          </a:prstGeom>
          <a:solidFill>
            <a:srgbClr val="EEF5FF"/>
          </a:solidFill>
          <a:ln>
            <a:solidFill>
              <a:srgbClr val="EE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9418320" y="4270248"/>
            <a:ext cx="2057400" cy="276999"/>
          </a:xfrm>
          <a:prstGeom prst="rect">
            <a:avLst/>
          </a:prstGeom>
          <a:noFill/>
        </p:spPr>
        <p:txBody>
          <a:bodyPr wrap="square" anchor="t">
            <a:spAutoFit/>
          </a:bodyPr>
          <a:lstStyle/>
          <a:p>
            <a:pPr algn="ctr"/>
            <a:r>
              <a:rPr sz="1200">
                <a:solidFill>
                  <a:srgbClr val="2563EB"/>
                </a:solidFill>
                <a:latin typeface="Aptos"/>
              </a:rPr>
              <a:t>Rollback compensatorio</a:t>
            </a:r>
          </a:p>
        </p:txBody>
      </p:sp>
      <p:sp>
        <p:nvSpPr>
          <p:cNvPr id="36" name="TextBox 35"/>
          <p:cNvSpPr txBox="1"/>
          <p:nvPr/>
        </p:nvSpPr>
        <p:spPr>
          <a:xfrm>
            <a:off x="731520" y="5166360"/>
            <a:ext cx="10698480" cy="640080"/>
          </a:xfrm>
          <a:prstGeom prst="rect">
            <a:avLst/>
          </a:prstGeom>
          <a:noFill/>
        </p:spPr>
        <p:txBody>
          <a:bodyPr wrap="square" anchor="t">
            <a:spAutoFit/>
          </a:bodyPr>
          <a:lstStyle/>
          <a:p>
            <a:pPr algn="ctr"/>
            <a:r>
              <a:rPr sz="1600" b="1">
                <a:solidFill>
                  <a:srgbClr val="182230"/>
                </a:solidFill>
                <a:latin typeface="Aptos"/>
              </a:rPr>
              <a:t>Objetivo: centralizar datos, automatizar movimientos de inventario y mantener consistencia entre transacciones.</a:t>
            </a:r>
          </a:p>
        </p:txBody>
      </p:sp>
      <p:sp>
        <p:nvSpPr>
          <p:cNvPr id="37" name="TextBox 36"/>
          <p:cNvSpPr txBox="1"/>
          <p:nvPr/>
        </p:nvSpPr>
        <p:spPr>
          <a:xfrm>
            <a:off x="640080" y="6519672"/>
            <a:ext cx="5029200" cy="164592"/>
          </a:xfrm>
          <a:prstGeom prst="rect">
            <a:avLst/>
          </a:prstGeom>
          <a:noFill/>
        </p:spPr>
        <p:txBody>
          <a:bodyPr wrap="square" anchor="t">
            <a:spAutoFit/>
          </a:bodyPr>
          <a:lstStyle/>
          <a:p>
            <a:pPr algn="l"/>
            <a:r>
              <a:rPr sz="800" b="1">
                <a:solidFill>
                  <a:srgbClr val="667085"/>
                </a:solidFill>
                <a:latin typeface="Aptos"/>
              </a:rPr>
              <a:t>NOVA TECH SOLUTIONS  •  BASE DE DATOS NOSQL</a:t>
            </a:r>
          </a:p>
        </p:txBody>
      </p:sp>
      <p:sp>
        <p:nvSpPr>
          <p:cNvPr id="38" name="TextBox 37"/>
          <p:cNvSpPr txBox="1"/>
          <p:nvPr/>
        </p:nvSpPr>
        <p:spPr>
          <a:xfrm>
            <a:off x="11155680" y="6492240"/>
            <a:ext cx="411480" cy="182880"/>
          </a:xfrm>
          <a:prstGeom prst="rect">
            <a:avLst/>
          </a:prstGeom>
          <a:noFill/>
        </p:spPr>
        <p:txBody>
          <a:bodyPr wrap="square" anchor="t">
            <a:spAutoFit/>
          </a:bodyPr>
          <a:lstStyle/>
          <a:p>
            <a:pPr algn="r"/>
            <a:r>
              <a:rPr sz="800" b="1">
                <a:solidFill>
                  <a:srgbClr val="667085"/>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ounded Rectangle 4">
            <a:extLst>
              <a:ext uri="{FF2B5EF4-FFF2-40B4-BE49-F238E27FC236}">
                <a16:creationId xmlns:a16="http://schemas.microsoft.com/office/drawing/2014/main" id="{1C6B6193-9E66-C338-012E-258B9BE925F3}"/>
              </a:ext>
            </a:extLst>
          </p:cNvPr>
          <p:cNvSpPr/>
          <p:nvPr/>
        </p:nvSpPr>
        <p:spPr>
          <a:xfrm>
            <a:off x="539646" y="685800"/>
            <a:ext cx="3575154" cy="612648"/>
          </a:xfrm>
          <a:prstGeom prst="roundRect">
            <a:avLst/>
          </a:prstGeom>
          <a:solidFill>
            <a:srgbClr val="2563E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chemeClr val="bg1"/>
              </a:solidFill>
            </a:endParaRPr>
          </a:p>
        </p:txBody>
      </p:sp>
      <p:sp>
        <p:nvSpPr>
          <p:cNvPr id="2" name="TextBox 1"/>
          <p:cNvSpPr txBox="1"/>
          <p:nvPr/>
        </p:nvSpPr>
        <p:spPr>
          <a:xfrm>
            <a:off x="640080" y="411480"/>
            <a:ext cx="4114800" cy="274320"/>
          </a:xfrm>
          <a:prstGeom prst="rect">
            <a:avLst/>
          </a:prstGeom>
          <a:noFill/>
        </p:spPr>
        <p:txBody>
          <a:bodyPr wrap="square" anchor="t">
            <a:spAutoFit/>
          </a:bodyPr>
          <a:lstStyle/>
          <a:p>
            <a:pPr algn="l"/>
            <a:r>
              <a:rPr sz="1000" b="1" dirty="0">
                <a:solidFill>
                  <a:srgbClr val="2563EB"/>
                </a:solidFill>
                <a:latin typeface="Aptos"/>
              </a:rPr>
              <a:t>03 · DISEÑO NOSQL</a:t>
            </a:r>
          </a:p>
        </p:txBody>
      </p:sp>
      <p:sp>
        <p:nvSpPr>
          <p:cNvPr id="3" name="TextBox 2"/>
          <p:cNvSpPr txBox="1"/>
          <p:nvPr/>
        </p:nvSpPr>
        <p:spPr>
          <a:xfrm>
            <a:off x="640080" y="749808"/>
            <a:ext cx="10789920" cy="507831"/>
          </a:xfrm>
          <a:prstGeom prst="rect">
            <a:avLst/>
          </a:prstGeom>
          <a:noFill/>
        </p:spPr>
        <p:txBody>
          <a:bodyPr wrap="square" anchor="t">
            <a:spAutoFit/>
          </a:bodyPr>
          <a:lstStyle/>
          <a:p>
            <a:pPr algn="l"/>
            <a:r>
              <a:rPr sz="2700" b="1" dirty="0">
                <a:solidFill>
                  <a:schemeClr val="bg1"/>
                </a:solidFill>
                <a:latin typeface="Aptos"/>
              </a:rPr>
              <a:t>¿Por </a:t>
            </a:r>
            <a:r>
              <a:rPr sz="2700" b="1" dirty="0" err="1">
                <a:solidFill>
                  <a:schemeClr val="bg1"/>
                </a:solidFill>
                <a:latin typeface="Aptos"/>
              </a:rPr>
              <a:t>qué</a:t>
            </a:r>
            <a:r>
              <a:rPr sz="2700" b="1" dirty="0">
                <a:solidFill>
                  <a:schemeClr val="bg1"/>
                </a:solidFill>
                <a:latin typeface="Aptos"/>
              </a:rPr>
              <a:t> MongoDB?</a:t>
            </a:r>
          </a:p>
        </p:txBody>
      </p:sp>
      <p:sp>
        <p:nvSpPr>
          <p:cNvPr id="4" name="Rounded Rectangle 3"/>
          <p:cNvSpPr/>
          <p:nvPr/>
        </p:nvSpPr>
        <p:spPr>
          <a:xfrm>
            <a:off x="640080" y="1828800"/>
            <a:ext cx="3474720" cy="338328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 name="Rounded Rectangle 4"/>
          <p:cNvSpPr/>
          <p:nvPr/>
        </p:nvSpPr>
        <p:spPr>
          <a:xfrm>
            <a:off x="804671" y="2011680"/>
            <a:ext cx="73152" cy="301752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 name="TextBox 5"/>
          <p:cNvSpPr txBox="1"/>
          <p:nvPr/>
        </p:nvSpPr>
        <p:spPr>
          <a:xfrm>
            <a:off x="1005840" y="2057400"/>
            <a:ext cx="2944368" cy="830997"/>
          </a:xfrm>
          <a:prstGeom prst="rect">
            <a:avLst/>
          </a:prstGeom>
          <a:noFill/>
        </p:spPr>
        <p:txBody>
          <a:bodyPr wrap="square" anchor="t">
            <a:spAutoFit/>
          </a:bodyPr>
          <a:lstStyle/>
          <a:p>
            <a:pPr algn="l"/>
            <a:r>
              <a:rPr sz="2400" b="1">
                <a:solidFill>
                  <a:srgbClr val="182230"/>
                </a:solidFill>
                <a:latin typeface="Aptos"/>
              </a:rPr>
              <a:t>Flexibilidad documental</a:t>
            </a:r>
          </a:p>
        </p:txBody>
      </p:sp>
      <p:sp>
        <p:nvSpPr>
          <p:cNvPr id="7" name="TextBox 6"/>
          <p:cNvSpPr txBox="1"/>
          <p:nvPr/>
        </p:nvSpPr>
        <p:spPr>
          <a:xfrm>
            <a:off x="1005835" y="2860146"/>
            <a:ext cx="2944368" cy="1323439"/>
          </a:xfrm>
          <a:prstGeom prst="rect">
            <a:avLst/>
          </a:prstGeom>
          <a:noFill/>
        </p:spPr>
        <p:txBody>
          <a:bodyPr wrap="square" anchor="t">
            <a:spAutoFit/>
          </a:bodyPr>
          <a:lstStyle/>
          <a:p>
            <a:pPr algn="l"/>
            <a:r>
              <a:rPr sz="1600" b="0" dirty="0">
                <a:solidFill>
                  <a:srgbClr val="667085"/>
                </a:solidFill>
                <a:latin typeface="Aptos"/>
              </a:rPr>
              <a:t>Los </a:t>
            </a:r>
            <a:r>
              <a:rPr sz="1600" b="0" dirty="0" err="1">
                <a:solidFill>
                  <a:srgbClr val="667085"/>
                </a:solidFill>
                <a:latin typeface="Aptos"/>
              </a:rPr>
              <a:t>documentos</a:t>
            </a:r>
            <a:r>
              <a:rPr sz="1600" b="0" dirty="0">
                <a:solidFill>
                  <a:srgbClr val="667085"/>
                </a:solidFill>
                <a:latin typeface="Aptos"/>
              </a:rPr>
              <a:t> </a:t>
            </a:r>
            <a:r>
              <a:rPr sz="1600" b="0" dirty="0" err="1">
                <a:solidFill>
                  <a:srgbClr val="667085"/>
                </a:solidFill>
                <a:latin typeface="Aptos"/>
              </a:rPr>
              <a:t>pueden</a:t>
            </a:r>
            <a:r>
              <a:rPr sz="1600" b="0" dirty="0">
                <a:solidFill>
                  <a:srgbClr val="667085"/>
                </a:solidFill>
                <a:latin typeface="Aptos"/>
              </a:rPr>
              <a:t> </a:t>
            </a:r>
            <a:r>
              <a:rPr sz="1600" b="0" dirty="0" err="1">
                <a:solidFill>
                  <a:srgbClr val="667085"/>
                </a:solidFill>
                <a:latin typeface="Aptos"/>
              </a:rPr>
              <a:t>incorporar</a:t>
            </a:r>
            <a:r>
              <a:rPr sz="1600" b="0" dirty="0">
                <a:solidFill>
                  <a:srgbClr val="667085"/>
                </a:solidFill>
                <a:latin typeface="Aptos"/>
              </a:rPr>
              <a:t> </a:t>
            </a:r>
            <a:r>
              <a:rPr sz="1600" b="0" dirty="0" err="1">
                <a:solidFill>
                  <a:srgbClr val="667085"/>
                </a:solidFill>
                <a:latin typeface="Aptos"/>
              </a:rPr>
              <a:t>atributos</a:t>
            </a:r>
            <a:r>
              <a:rPr sz="1600" b="0" dirty="0">
                <a:solidFill>
                  <a:srgbClr val="667085"/>
                </a:solidFill>
                <a:latin typeface="Aptos"/>
              </a:rPr>
              <a:t> </a:t>
            </a:r>
            <a:r>
              <a:rPr sz="1600" b="0" dirty="0" err="1">
                <a:solidFill>
                  <a:srgbClr val="667085"/>
                </a:solidFill>
                <a:latin typeface="Aptos"/>
              </a:rPr>
              <a:t>distintos</a:t>
            </a:r>
            <a:r>
              <a:rPr sz="1600" b="0" dirty="0">
                <a:solidFill>
                  <a:srgbClr val="667085"/>
                </a:solidFill>
                <a:latin typeface="Aptos"/>
              </a:rPr>
              <a:t> </a:t>
            </a:r>
            <a:r>
              <a:rPr sz="1600" b="0" dirty="0" err="1">
                <a:solidFill>
                  <a:srgbClr val="667085"/>
                </a:solidFill>
                <a:latin typeface="Aptos"/>
              </a:rPr>
              <a:t>según</a:t>
            </a:r>
            <a:r>
              <a:rPr sz="1600" b="0" dirty="0">
                <a:solidFill>
                  <a:srgbClr val="667085"/>
                </a:solidFill>
                <a:latin typeface="Aptos"/>
              </a:rPr>
              <a:t> el </a:t>
            </a:r>
            <a:r>
              <a:rPr sz="1600" b="0" dirty="0" err="1">
                <a:solidFill>
                  <a:srgbClr val="667085"/>
                </a:solidFill>
                <a:latin typeface="Aptos"/>
              </a:rPr>
              <a:t>tipo</a:t>
            </a:r>
            <a:r>
              <a:rPr sz="1600" b="0" dirty="0">
                <a:solidFill>
                  <a:srgbClr val="667085"/>
                </a:solidFill>
                <a:latin typeface="Aptos"/>
              </a:rPr>
              <a:t> de </a:t>
            </a:r>
            <a:r>
              <a:rPr sz="1600" b="0" dirty="0" err="1">
                <a:solidFill>
                  <a:srgbClr val="667085"/>
                </a:solidFill>
                <a:latin typeface="Aptos"/>
              </a:rPr>
              <a:t>producto</a:t>
            </a:r>
            <a:r>
              <a:rPr sz="1600" b="0" dirty="0">
                <a:solidFill>
                  <a:srgbClr val="667085"/>
                </a:solidFill>
                <a:latin typeface="Aptos"/>
              </a:rPr>
              <a:t> o </a:t>
            </a:r>
            <a:r>
              <a:rPr sz="1600" b="0" dirty="0" err="1">
                <a:solidFill>
                  <a:srgbClr val="667085"/>
                </a:solidFill>
                <a:latin typeface="Aptos"/>
              </a:rPr>
              <a:t>transacción</a:t>
            </a:r>
            <a:r>
              <a:rPr sz="1600" b="0" dirty="0">
                <a:solidFill>
                  <a:srgbClr val="667085"/>
                </a:solidFill>
                <a:latin typeface="Aptos"/>
              </a:rPr>
              <a:t> sin </a:t>
            </a:r>
            <a:r>
              <a:rPr sz="1600" b="0" dirty="0" err="1">
                <a:solidFill>
                  <a:srgbClr val="667085"/>
                </a:solidFill>
                <a:latin typeface="Aptos"/>
              </a:rPr>
              <a:t>rediseñar</a:t>
            </a:r>
            <a:r>
              <a:rPr sz="1600" b="0" dirty="0">
                <a:solidFill>
                  <a:srgbClr val="667085"/>
                </a:solidFill>
                <a:latin typeface="Aptos"/>
              </a:rPr>
              <a:t> </a:t>
            </a:r>
            <a:r>
              <a:rPr sz="1600" b="0" dirty="0" err="1">
                <a:solidFill>
                  <a:srgbClr val="667085"/>
                </a:solidFill>
                <a:latin typeface="Aptos"/>
              </a:rPr>
              <a:t>toda</a:t>
            </a:r>
            <a:r>
              <a:rPr sz="1600" b="0" dirty="0">
                <a:solidFill>
                  <a:srgbClr val="667085"/>
                </a:solidFill>
                <a:latin typeface="Aptos"/>
              </a:rPr>
              <a:t> la base.</a:t>
            </a:r>
          </a:p>
        </p:txBody>
      </p:sp>
      <p:sp>
        <p:nvSpPr>
          <p:cNvPr id="8" name="Rounded Rectangle 7"/>
          <p:cNvSpPr/>
          <p:nvPr/>
        </p:nvSpPr>
        <p:spPr>
          <a:xfrm>
            <a:off x="4370832" y="1828800"/>
            <a:ext cx="3474720" cy="338328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 name="Rounded Rectangle 8"/>
          <p:cNvSpPr/>
          <p:nvPr/>
        </p:nvSpPr>
        <p:spPr>
          <a:xfrm>
            <a:off x="4535424" y="2011680"/>
            <a:ext cx="73152" cy="30175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 name="TextBox 9"/>
          <p:cNvSpPr txBox="1"/>
          <p:nvPr/>
        </p:nvSpPr>
        <p:spPr>
          <a:xfrm>
            <a:off x="4736592" y="2057400"/>
            <a:ext cx="2944368" cy="830997"/>
          </a:xfrm>
          <a:prstGeom prst="rect">
            <a:avLst/>
          </a:prstGeom>
          <a:noFill/>
        </p:spPr>
        <p:txBody>
          <a:bodyPr wrap="square" anchor="t">
            <a:spAutoFit/>
          </a:bodyPr>
          <a:lstStyle/>
          <a:p>
            <a:pPr algn="l"/>
            <a:r>
              <a:rPr sz="2400" b="1">
                <a:solidFill>
                  <a:srgbClr val="182230"/>
                </a:solidFill>
                <a:latin typeface="Aptos"/>
              </a:rPr>
              <a:t>Desnormalización controlada</a:t>
            </a:r>
          </a:p>
        </p:txBody>
      </p:sp>
      <p:sp>
        <p:nvSpPr>
          <p:cNvPr id="11" name="TextBox 10"/>
          <p:cNvSpPr txBox="1"/>
          <p:nvPr/>
        </p:nvSpPr>
        <p:spPr>
          <a:xfrm>
            <a:off x="4736587" y="2860146"/>
            <a:ext cx="2944368" cy="1323439"/>
          </a:xfrm>
          <a:prstGeom prst="rect">
            <a:avLst/>
          </a:prstGeom>
          <a:noFill/>
        </p:spPr>
        <p:txBody>
          <a:bodyPr wrap="square" anchor="t">
            <a:spAutoFit/>
          </a:bodyPr>
          <a:lstStyle/>
          <a:p>
            <a:pPr algn="l"/>
            <a:r>
              <a:rPr sz="1600" b="0">
                <a:solidFill>
                  <a:srgbClr val="667085"/>
                </a:solidFill>
                <a:latin typeface="Aptos"/>
              </a:rPr>
              <a:t>Las transacciones conservan referencias ObjectId y snapshots legibles de datos relevantes para mantener contexto histórico.</a:t>
            </a:r>
          </a:p>
        </p:txBody>
      </p:sp>
      <p:sp>
        <p:nvSpPr>
          <p:cNvPr id="12" name="Rounded Rectangle 11"/>
          <p:cNvSpPr/>
          <p:nvPr/>
        </p:nvSpPr>
        <p:spPr>
          <a:xfrm>
            <a:off x="8101583" y="1828800"/>
            <a:ext cx="3474720" cy="338328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3" name="Rounded Rectangle 12"/>
          <p:cNvSpPr/>
          <p:nvPr/>
        </p:nvSpPr>
        <p:spPr>
          <a:xfrm>
            <a:off x="8266175" y="2011680"/>
            <a:ext cx="73152" cy="3017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4" name="TextBox 13"/>
          <p:cNvSpPr txBox="1"/>
          <p:nvPr/>
        </p:nvSpPr>
        <p:spPr>
          <a:xfrm>
            <a:off x="8467344" y="2057400"/>
            <a:ext cx="2944368" cy="830997"/>
          </a:xfrm>
          <a:prstGeom prst="rect">
            <a:avLst/>
          </a:prstGeom>
          <a:noFill/>
        </p:spPr>
        <p:txBody>
          <a:bodyPr wrap="square" anchor="t">
            <a:spAutoFit/>
          </a:bodyPr>
          <a:lstStyle/>
          <a:p>
            <a:pPr algn="l"/>
            <a:r>
              <a:rPr sz="2400" b="1">
                <a:solidFill>
                  <a:srgbClr val="182230"/>
                </a:solidFill>
                <a:latin typeface="Aptos"/>
              </a:rPr>
              <a:t>Escalabilidad del modelo</a:t>
            </a:r>
          </a:p>
        </p:txBody>
      </p:sp>
      <p:sp>
        <p:nvSpPr>
          <p:cNvPr id="15" name="TextBox 14"/>
          <p:cNvSpPr txBox="1"/>
          <p:nvPr/>
        </p:nvSpPr>
        <p:spPr>
          <a:xfrm>
            <a:off x="8467339" y="2860146"/>
            <a:ext cx="2944368" cy="1323439"/>
          </a:xfrm>
          <a:prstGeom prst="rect">
            <a:avLst/>
          </a:prstGeom>
          <a:noFill/>
        </p:spPr>
        <p:txBody>
          <a:bodyPr wrap="square" anchor="t">
            <a:spAutoFit/>
          </a:bodyPr>
          <a:lstStyle/>
          <a:p>
            <a:pPr algn="l"/>
            <a:r>
              <a:rPr sz="1600" b="0">
                <a:solidFill>
                  <a:srgbClr val="667085"/>
                </a:solidFill>
                <a:latin typeface="Aptos"/>
              </a:rPr>
              <a:t>La estructura permite incorporar nuevos campos, módulos y consultas conforme aumentan las necesidades del sistema.</a:t>
            </a:r>
          </a:p>
        </p:txBody>
      </p:sp>
      <p:sp>
        <p:nvSpPr>
          <p:cNvPr id="16" name="TextBox 15"/>
          <p:cNvSpPr txBox="1"/>
          <p:nvPr/>
        </p:nvSpPr>
        <p:spPr>
          <a:xfrm>
            <a:off x="640080" y="5559552"/>
            <a:ext cx="10881360" cy="411480"/>
          </a:xfrm>
          <a:prstGeom prst="rect">
            <a:avLst/>
          </a:prstGeom>
          <a:noFill/>
        </p:spPr>
        <p:txBody>
          <a:bodyPr wrap="square" anchor="t">
            <a:spAutoFit/>
          </a:bodyPr>
          <a:lstStyle/>
          <a:p>
            <a:pPr algn="ctr"/>
            <a:r>
              <a:rPr sz="1400" b="0">
                <a:solidFill>
                  <a:srgbClr val="667085"/>
                </a:solidFill>
                <a:latin typeface="Aptos"/>
              </a:rPr>
              <a:t>NovaTechDB utiliza BSON, colecciones y documentos como núcleo del modelo.</a:t>
            </a:r>
          </a:p>
        </p:txBody>
      </p:sp>
      <p:sp>
        <p:nvSpPr>
          <p:cNvPr id="17" name="TextBox 16"/>
          <p:cNvSpPr txBox="1"/>
          <p:nvPr/>
        </p:nvSpPr>
        <p:spPr>
          <a:xfrm>
            <a:off x="640080" y="6519672"/>
            <a:ext cx="5029200" cy="164592"/>
          </a:xfrm>
          <a:prstGeom prst="rect">
            <a:avLst/>
          </a:prstGeom>
          <a:noFill/>
        </p:spPr>
        <p:txBody>
          <a:bodyPr wrap="square" anchor="t">
            <a:spAutoFit/>
          </a:bodyPr>
          <a:lstStyle/>
          <a:p>
            <a:pPr algn="l"/>
            <a:r>
              <a:rPr sz="800" b="1">
                <a:solidFill>
                  <a:srgbClr val="667085"/>
                </a:solidFill>
                <a:latin typeface="Aptos"/>
              </a:rPr>
              <a:t>NOVA TECH SOLUTIONS  •  BASE DE DATOS NOSQL</a:t>
            </a:r>
          </a:p>
        </p:txBody>
      </p:sp>
      <p:sp>
        <p:nvSpPr>
          <p:cNvPr id="18" name="TextBox 17"/>
          <p:cNvSpPr txBox="1"/>
          <p:nvPr/>
        </p:nvSpPr>
        <p:spPr>
          <a:xfrm>
            <a:off x="11155680" y="6492240"/>
            <a:ext cx="411480" cy="182880"/>
          </a:xfrm>
          <a:prstGeom prst="rect">
            <a:avLst/>
          </a:prstGeom>
          <a:noFill/>
        </p:spPr>
        <p:txBody>
          <a:bodyPr wrap="square" anchor="t">
            <a:spAutoFit/>
          </a:bodyPr>
          <a:lstStyle/>
          <a:p>
            <a:pPr algn="r"/>
            <a:r>
              <a:rPr sz="800" b="1">
                <a:solidFill>
                  <a:srgbClr val="667085"/>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55" name="Rounded Rectangle 4">
            <a:extLst>
              <a:ext uri="{FF2B5EF4-FFF2-40B4-BE49-F238E27FC236}">
                <a16:creationId xmlns:a16="http://schemas.microsoft.com/office/drawing/2014/main" id="{3A61B770-224E-D436-7A34-48518A4842C9}"/>
              </a:ext>
            </a:extLst>
          </p:cNvPr>
          <p:cNvSpPr/>
          <p:nvPr/>
        </p:nvSpPr>
        <p:spPr>
          <a:xfrm>
            <a:off x="539646" y="685800"/>
            <a:ext cx="4670028" cy="612648"/>
          </a:xfrm>
          <a:prstGeom prst="roundRect">
            <a:avLst/>
          </a:prstGeom>
          <a:solidFill>
            <a:srgbClr val="2563E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chemeClr val="bg1"/>
              </a:solidFill>
            </a:endParaRPr>
          </a:p>
        </p:txBody>
      </p:sp>
      <p:sp>
        <p:nvSpPr>
          <p:cNvPr id="2" name="TextBox 1"/>
          <p:cNvSpPr txBox="1"/>
          <p:nvPr/>
        </p:nvSpPr>
        <p:spPr>
          <a:xfrm>
            <a:off x="640080" y="411480"/>
            <a:ext cx="4114800" cy="274320"/>
          </a:xfrm>
          <a:prstGeom prst="rect">
            <a:avLst/>
          </a:prstGeom>
          <a:noFill/>
        </p:spPr>
        <p:txBody>
          <a:bodyPr wrap="square" anchor="t">
            <a:spAutoFit/>
          </a:bodyPr>
          <a:lstStyle/>
          <a:p>
            <a:pPr algn="l"/>
            <a:r>
              <a:rPr sz="1000" b="1">
                <a:solidFill>
                  <a:srgbClr val="2563EB"/>
                </a:solidFill>
                <a:latin typeface="Aptos"/>
              </a:rPr>
              <a:t>04 · MODELO</a:t>
            </a:r>
          </a:p>
        </p:txBody>
      </p:sp>
      <p:sp>
        <p:nvSpPr>
          <p:cNvPr id="3" name="TextBox 2"/>
          <p:cNvSpPr txBox="1"/>
          <p:nvPr/>
        </p:nvSpPr>
        <p:spPr>
          <a:xfrm>
            <a:off x="640080" y="749808"/>
            <a:ext cx="10789920" cy="507831"/>
          </a:xfrm>
          <a:prstGeom prst="rect">
            <a:avLst/>
          </a:prstGeom>
          <a:noFill/>
        </p:spPr>
        <p:txBody>
          <a:bodyPr wrap="square" anchor="t">
            <a:spAutoFit/>
          </a:bodyPr>
          <a:lstStyle/>
          <a:p>
            <a:pPr algn="l"/>
            <a:r>
              <a:rPr sz="2700" b="1" dirty="0">
                <a:solidFill>
                  <a:schemeClr val="bg1"/>
                </a:solidFill>
                <a:latin typeface="Aptos"/>
              </a:rPr>
              <a:t>12 </a:t>
            </a:r>
            <a:r>
              <a:rPr sz="2700" b="1" dirty="0" err="1">
                <a:solidFill>
                  <a:schemeClr val="bg1"/>
                </a:solidFill>
                <a:latin typeface="Aptos"/>
              </a:rPr>
              <a:t>colecciones</a:t>
            </a:r>
            <a:r>
              <a:rPr sz="2700" b="1" dirty="0">
                <a:solidFill>
                  <a:schemeClr val="bg1"/>
                </a:solidFill>
                <a:latin typeface="Aptos"/>
              </a:rPr>
              <a:t> </a:t>
            </a:r>
            <a:r>
              <a:rPr sz="2700" b="1" dirty="0" err="1">
                <a:solidFill>
                  <a:schemeClr val="bg1"/>
                </a:solidFill>
                <a:latin typeface="Aptos"/>
              </a:rPr>
              <a:t>principales</a:t>
            </a:r>
            <a:endParaRPr sz="2700" b="1" dirty="0">
              <a:solidFill>
                <a:schemeClr val="bg1"/>
              </a:solidFill>
              <a:latin typeface="Aptos"/>
            </a:endParaRPr>
          </a:p>
        </p:txBody>
      </p:sp>
      <p:sp>
        <p:nvSpPr>
          <p:cNvPr id="4" name="Rounded Rectangle 3"/>
          <p:cNvSpPr/>
          <p:nvPr/>
        </p:nvSpPr>
        <p:spPr>
          <a:xfrm>
            <a:off x="640080" y="1691640"/>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 name="TextBox 4"/>
          <p:cNvSpPr txBox="1"/>
          <p:nvPr/>
        </p:nvSpPr>
        <p:spPr>
          <a:xfrm>
            <a:off x="786384" y="1856232"/>
            <a:ext cx="384048" cy="307777"/>
          </a:xfrm>
          <a:prstGeom prst="rect">
            <a:avLst/>
          </a:prstGeom>
          <a:noFill/>
        </p:spPr>
        <p:txBody>
          <a:bodyPr wrap="square" anchor="t">
            <a:spAutoFit/>
          </a:bodyPr>
          <a:lstStyle/>
          <a:p>
            <a:pPr algn="l"/>
            <a:r>
              <a:rPr sz="1400" b="1">
                <a:solidFill>
                  <a:srgbClr val="2563EB"/>
                </a:solidFill>
                <a:latin typeface="Aptos"/>
              </a:rPr>
              <a:t>01</a:t>
            </a:r>
          </a:p>
        </p:txBody>
      </p:sp>
      <p:sp>
        <p:nvSpPr>
          <p:cNvPr id="6" name="TextBox 5"/>
          <p:cNvSpPr txBox="1"/>
          <p:nvPr/>
        </p:nvSpPr>
        <p:spPr>
          <a:xfrm>
            <a:off x="1207007" y="1837944"/>
            <a:ext cx="1783080" cy="400110"/>
          </a:xfrm>
          <a:prstGeom prst="rect">
            <a:avLst/>
          </a:prstGeom>
          <a:noFill/>
        </p:spPr>
        <p:txBody>
          <a:bodyPr wrap="square" anchor="t">
            <a:spAutoFit/>
          </a:bodyPr>
          <a:lstStyle/>
          <a:p>
            <a:pPr algn="l"/>
            <a:r>
              <a:rPr sz="2000" b="1">
                <a:solidFill>
                  <a:srgbClr val="182230"/>
                </a:solidFill>
                <a:latin typeface="Aptos"/>
              </a:rPr>
              <a:t>Clientes</a:t>
            </a:r>
          </a:p>
        </p:txBody>
      </p:sp>
      <p:sp>
        <p:nvSpPr>
          <p:cNvPr id="7" name="TextBox 6"/>
          <p:cNvSpPr txBox="1"/>
          <p:nvPr/>
        </p:nvSpPr>
        <p:spPr>
          <a:xfrm>
            <a:off x="1207007" y="2203704"/>
            <a:ext cx="1600200" cy="276999"/>
          </a:xfrm>
          <a:prstGeom prst="rect">
            <a:avLst/>
          </a:prstGeom>
          <a:noFill/>
        </p:spPr>
        <p:txBody>
          <a:bodyPr wrap="square" anchor="t">
            <a:spAutoFit/>
          </a:bodyPr>
          <a:lstStyle/>
          <a:p>
            <a:pPr algn="l"/>
            <a:r>
              <a:rPr sz="1200" b="0">
                <a:solidFill>
                  <a:srgbClr val="667085"/>
                </a:solidFill>
                <a:latin typeface="Aptos"/>
              </a:rPr>
              <a:t>Comercial</a:t>
            </a:r>
          </a:p>
        </p:txBody>
      </p:sp>
      <p:sp>
        <p:nvSpPr>
          <p:cNvPr id="8" name="Rounded Rectangle 7"/>
          <p:cNvSpPr/>
          <p:nvPr/>
        </p:nvSpPr>
        <p:spPr>
          <a:xfrm>
            <a:off x="3493008" y="1691640"/>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 name="TextBox 8"/>
          <p:cNvSpPr txBox="1"/>
          <p:nvPr/>
        </p:nvSpPr>
        <p:spPr>
          <a:xfrm>
            <a:off x="3639312" y="1856232"/>
            <a:ext cx="384048" cy="307777"/>
          </a:xfrm>
          <a:prstGeom prst="rect">
            <a:avLst/>
          </a:prstGeom>
          <a:noFill/>
        </p:spPr>
        <p:txBody>
          <a:bodyPr wrap="square" anchor="t">
            <a:spAutoFit/>
          </a:bodyPr>
          <a:lstStyle/>
          <a:p>
            <a:pPr algn="l"/>
            <a:r>
              <a:rPr sz="1400" b="1">
                <a:solidFill>
                  <a:srgbClr val="2563EB"/>
                </a:solidFill>
                <a:latin typeface="Aptos"/>
              </a:rPr>
              <a:t>02</a:t>
            </a:r>
          </a:p>
        </p:txBody>
      </p:sp>
      <p:sp>
        <p:nvSpPr>
          <p:cNvPr id="10" name="TextBox 9"/>
          <p:cNvSpPr txBox="1"/>
          <p:nvPr/>
        </p:nvSpPr>
        <p:spPr>
          <a:xfrm>
            <a:off x="4059936" y="1837944"/>
            <a:ext cx="1783080" cy="400110"/>
          </a:xfrm>
          <a:prstGeom prst="rect">
            <a:avLst/>
          </a:prstGeom>
          <a:noFill/>
        </p:spPr>
        <p:txBody>
          <a:bodyPr wrap="square" anchor="t">
            <a:spAutoFit/>
          </a:bodyPr>
          <a:lstStyle/>
          <a:p>
            <a:pPr algn="l"/>
            <a:r>
              <a:rPr sz="2000" b="1">
                <a:solidFill>
                  <a:srgbClr val="182230"/>
                </a:solidFill>
                <a:latin typeface="Aptos"/>
              </a:rPr>
              <a:t>Productos</a:t>
            </a:r>
          </a:p>
        </p:txBody>
      </p:sp>
      <p:sp>
        <p:nvSpPr>
          <p:cNvPr id="11" name="TextBox 10"/>
          <p:cNvSpPr txBox="1"/>
          <p:nvPr/>
        </p:nvSpPr>
        <p:spPr>
          <a:xfrm>
            <a:off x="4059936" y="2203704"/>
            <a:ext cx="1600200" cy="276999"/>
          </a:xfrm>
          <a:prstGeom prst="rect">
            <a:avLst/>
          </a:prstGeom>
          <a:noFill/>
        </p:spPr>
        <p:txBody>
          <a:bodyPr wrap="square" anchor="t">
            <a:spAutoFit/>
          </a:bodyPr>
          <a:lstStyle/>
          <a:p>
            <a:pPr algn="l"/>
            <a:r>
              <a:rPr sz="1200" b="0">
                <a:solidFill>
                  <a:srgbClr val="667085"/>
                </a:solidFill>
                <a:latin typeface="Aptos"/>
              </a:rPr>
              <a:t>Inventario</a:t>
            </a:r>
          </a:p>
        </p:txBody>
      </p:sp>
      <p:sp>
        <p:nvSpPr>
          <p:cNvPr id="12" name="Rounded Rectangle 11"/>
          <p:cNvSpPr/>
          <p:nvPr/>
        </p:nvSpPr>
        <p:spPr>
          <a:xfrm>
            <a:off x="6345936" y="1691640"/>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3" name="TextBox 12"/>
          <p:cNvSpPr txBox="1"/>
          <p:nvPr/>
        </p:nvSpPr>
        <p:spPr>
          <a:xfrm>
            <a:off x="6492240" y="1856232"/>
            <a:ext cx="384048" cy="307777"/>
          </a:xfrm>
          <a:prstGeom prst="rect">
            <a:avLst/>
          </a:prstGeom>
          <a:noFill/>
        </p:spPr>
        <p:txBody>
          <a:bodyPr wrap="square" anchor="t">
            <a:spAutoFit/>
          </a:bodyPr>
          <a:lstStyle/>
          <a:p>
            <a:pPr algn="l"/>
            <a:r>
              <a:rPr sz="1400" b="1">
                <a:solidFill>
                  <a:srgbClr val="2563EB"/>
                </a:solidFill>
                <a:latin typeface="Aptos"/>
              </a:rPr>
              <a:t>03</a:t>
            </a:r>
          </a:p>
        </p:txBody>
      </p:sp>
      <p:sp>
        <p:nvSpPr>
          <p:cNvPr id="14" name="TextBox 13"/>
          <p:cNvSpPr txBox="1"/>
          <p:nvPr/>
        </p:nvSpPr>
        <p:spPr>
          <a:xfrm>
            <a:off x="6912864" y="1837944"/>
            <a:ext cx="1783080" cy="400110"/>
          </a:xfrm>
          <a:prstGeom prst="rect">
            <a:avLst/>
          </a:prstGeom>
          <a:noFill/>
        </p:spPr>
        <p:txBody>
          <a:bodyPr wrap="square" anchor="t">
            <a:spAutoFit/>
          </a:bodyPr>
          <a:lstStyle/>
          <a:p>
            <a:pPr algn="l"/>
            <a:r>
              <a:rPr sz="2000" b="1">
                <a:solidFill>
                  <a:srgbClr val="182230"/>
                </a:solidFill>
                <a:latin typeface="Aptos"/>
              </a:rPr>
              <a:t>Categorías</a:t>
            </a:r>
          </a:p>
        </p:txBody>
      </p:sp>
      <p:sp>
        <p:nvSpPr>
          <p:cNvPr id="15" name="TextBox 14"/>
          <p:cNvSpPr txBox="1"/>
          <p:nvPr/>
        </p:nvSpPr>
        <p:spPr>
          <a:xfrm>
            <a:off x="6912864" y="2203704"/>
            <a:ext cx="1600200" cy="276999"/>
          </a:xfrm>
          <a:prstGeom prst="rect">
            <a:avLst/>
          </a:prstGeom>
          <a:noFill/>
        </p:spPr>
        <p:txBody>
          <a:bodyPr wrap="square" anchor="t">
            <a:spAutoFit/>
          </a:bodyPr>
          <a:lstStyle/>
          <a:p>
            <a:pPr algn="l"/>
            <a:r>
              <a:rPr sz="1200" b="0">
                <a:solidFill>
                  <a:srgbClr val="667085"/>
                </a:solidFill>
                <a:latin typeface="Aptos"/>
              </a:rPr>
              <a:t>Inventario</a:t>
            </a:r>
          </a:p>
        </p:txBody>
      </p:sp>
      <p:sp>
        <p:nvSpPr>
          <p:cNvPr id="16" name="Rounded Rectangle 15"/>
          <p:cNvSpPr/>
          <p:nvPr/>
        </p:nvSpPr>
        <p:spPr>
          <a:xfrm>
            <a:off x="9198863" y="1691640"/>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9345167" y="1856232"/>
            <a:ext cx="384048" cy="307777"/>
          </a:xfrm>
          <a:prstGeom prst="rect">
            <a:avLst/>
          </a:prstGeom>
          <a:noFill/>
        </p:spPr>
        <p:txBody>
          <a:bodyPr wrap="square" anchor="t">
            <a:spAutoFit/>
          </a:bodyPr>
          <a:lstStyle/>
          <a:p>
            <a:pPr algn="l"/>
            <a:r>
              <a:rPr sz="1400" b="1">
                <a:solidFill>
                  <a:srgbClr val="2563EB"/>
                </a:solidFill>
                <a:latin typeface="Aptos"/>
              </a:rPr>
              <a:t>04</a:t>
            </a:r>
          </a:p>
        </p:txBody>
      </p:sp>
      <p:sp>
        <p:nvSpPr>
          <p:cNvPr id="18" name="TextBox 17"/>
          <p:cNvSpPr txBox="1"/>
          <p:nvPr/>
        </p:nvSpPr>
        <p:spPr>
          <a:xfrm>
            <a:off x="9765791" y="1837944"/>
            <a:ext cx="1783080" cy="400110"/>
          </a:xfrm>
          <a:prstGeom prst="rect">
            <a:avLst/>
          </a:prstGeom>
          <a:noFill/>
        </p:spPr>
        <p:txBody>
          <a:bodyPr wrap="square" anchor="t">
            <a:spAutoFit/>
          </a:bodyPr>
          <a:lstStyle/>
          <a:p>
            <a:pPr algn="l"/>
            <a:r>
              <a:rPr sz="2000" b="1">
                <a:solidFill>
                  <a:srgbClr val="182230"/>
                </a:solidFill>
                <a:latin typeface="Aptos"/>
              </a:rPr>
              <a:t>Proveedores</a:t>
            </a:r>
          </a:p>
        </p:txBody>
      </p:sp>
      <p:sp>
        <p:nvSpPr>
          <p:cNvPr id="19" name="TextBox 18"/>
          <p:cNvSpPr txBox="1"/>
          <p:nvPr/>
        </p:nvSpPr>
        <p:spPr>
          <a:xfrm>
            <a:off x="9765791" y="2203704"/>
            <a:ext cx="1600200" cy="276999"/>
          </a:xfrm>
          <a:prstGeom prst="rect">
            <a:avLst/>
          </a:prstGeom>
          <a:noFill/>
        </p:spPr>
        <p:txBody>
          <a:bodyPr wrap="square" anchor="t">
            <a:spAutoFit/>
          </a:bodyPr>
          <a:lstStyle/>
          <a:p>
            <a:pPr algn="l"/>
            <a:r>
              <a:rPr sz="1200" b="0">
                <a:solidFill>
                  <a:srgbClr val="667085"/>
                </a:solidFill>
                <a:latin typeface="Aptos"/>
              </a:rPr>
              <a:t>Compras</a:t>
            </a:r>
          </a:p>
        </p:txBody>
      </p:sp>
      <p:sp>
        <p:nvSpPr>
          <p:cNvPr id="20" name="Rounded Rectangle 19"/>
          <p:cNvSpPr/>
          <p:nvPr/>
        </p:nvSpPr>
        <p:spPr>
          <a:xfrm>
            <a:off x="640080" y="3044952"/>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786384" y="3209544"/>
            <a:ext cx="384048" cy="307777"/>
          </a:xfrm>
          <a:prstGeom prst="rect">
            <a:avLst/>
          </a:prstGeom>
          <a:noFill/>
        </p:spPr>
        <p:txBody>
          <a:bodyPr wrap="square" anchor="t">
            <a:spAutoFit/>
          </a:bodyPr>
          <a:lstStyle/>
          <a:p>
            <a:pPr algn="l"/>
            <a:r>
              <a:rPr sz="1400" b="1">
                <a:solidFill>
                  <a:srgbClr val="2563EB"/>
                </a:solidFill>
                <a:latin typeface="Aptos"/>
              </a:rPr>
              <a:t>05</a:t>
            </a:r>
          </a:p>
        </p:txBody>
      </p:sp>
      <p:sp>
        <p:nvSpPr>
          <p:cNvPr id="22" name="TextBox 21"/>
          <p:cNvSpPr txBox="1"/>
          <p:nvPr/>
        </p:nvSpPr>
        <p:spPr>
          <a:xfrm>
            <a:off x="1207007" y="3191256"/>
            <a:ext cx="1783080" cy="400110"/>
          </a:xfrm>
          <a:prstGeom prst="rect">
            <a:avLst/>
          </a:prstGeom>
          <a:noFill/>
        </p:spPr>
        <p:txBody>
          <a:bodyPr wrap="square" anchor="t">
            <a:spAutoFit/>
          </a:bodyPr>
          <a:lstStyle/>
          <a:p>
            <a:pPr algn="l"/>
            <a:r>
              <a:rPr sz="2000" b="1">
                <a:solidFill>
                  <a:srgbClr val="182230"/>
                </a:solidFill>
                <a:latin typeface="Aptos"/>
              </a:rPr>
              <a:t>Compras</a:t>
            </a:r>
          </a:p>
        </p:txBody>
      </p:sp>
      <p:sp>
        <p:nvSpPr>
          <p:cNvPr id="23" name="TextBox 22"/>
          <p:cNvSpPr txBox="1"/>
          <p:nvPr/>
        </p:nvSpPr>
        <p:spPr>
          <a:xfrm>
            <a:off x="1207007" y="3557016"/>
            <a:ext cx="1600200" cy="276999"/>
          </a:xfrm>
          <a:prstGeom prst="rect">
            <a:avLst/>
          </a:prstGeom>
          <a:noFill/>
        </p:spPr>
        <p:txBody>
          <a:bodyPr wrap="square" anchor="t">
            <a:spAutoFit/>
          </a:bodyPr>
          <a:lstStyle/>
          <a:p>
            <a:pPr algn="l"/>
            <a:r>
              <a:rPr sz="1200" b="0">
                <a:solidFill>
                  <a:srgbClr val="667085"/>
                </a:solidFill>
                <a:latin typeface="Aptos"/>
              </a:rPr>
              <a:t>Compras</a:t>
            </a:r>
          </a:p>
        </p:txBody>
      </p:sp>
      <p:sp>
        <p:nvSpPr>
          <p:cNvPr id="24" name="Rounded Rectangle 23"/>
          <p:cNvSpPr/>
          <p:nvPr/>
        </p:nvSpPr>
        <p:spPr>
          <a:xfrm>
            <a:off x="3493008" y="3044952"/>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639312" y="3209544"/>
            <a:ext cx="384048" cy="307777"/>
          </a:xfrm>
          <a:prstGeom prst="rect">
            <a:avLst/>
          </a:prstGeom>
          <a:noFill/>
        </p:spPr>
        <p:txBody>
          <a:bodyPr wrap="square" anchor="t">
            <a:spAutoFit/>
          </a:bodyPr>
          <a:lstStyle/>
          <a:p>
            <a:pPr algn="l"/>
            <a:r>
              <a:rPr sz="1400" b="1">
                <a:solidFill>
                  <a:srgbClr val="2563EB"/>
                </a:solidFill>
                <a:latin typeface="Aptos"/>
              </a:rPr>
              <a:t>06</a:t>
            </a:r>
          </a:p>
        </p:txBody>
      </p:sp>
      <p:sp>
        <p:nvSpPr>
          <p:cNvPr id="26" name="TextBox 25"/>
          <p:cNvSpPr txBox="1"/>
          <p:nvPr/>
        </p:nvSpPr>
        <p:spPr>
          <a:xfrm>
            <a:off x="4059936" y="3191256"/>
            <a:ext cx="1783080" cy="400110"/>
          </a:xfrm>
          <a:prstGeom prst="rect">
            <a:avLst/>
          </a:prstGeom>
          <a:noFill/>
        </p:spPr>
        <p:txBody>
          <a:bodyPr wrap="square" anchor="t">
            <a:spAutoFit/>
          </a:bodyPr>
          <a:lstStyle/>
          <a:p>
            <a:pPr algn="l"/>
            <a:r>
              <a:rPr sz="2000" b="1">
                <a:solidFill>
                  <a:srgbClr val="182230"/>
                </a:solidFill>
                <a:latin typeface="Aptos"/>
              </a:rPr>
              <a:t>Ventas</a:t>
            </a:r>
          </a:p>
        </p:txBody>
      </p:sp>
      <p:sp>
        <p:nvSpPr>
          <p:cNvPr id="27" name="TextBox 26"/>
          <p:cNvSpPr txBox="1"/>
          <p:nvPr/>
        </p:nvSpPr>
        <p:spPr>
          <a:xfrm>
            <a:off x="4059936" y="3557016"/>
            <a:ext cx="1600200" cy="276999"/>
          </a:xfrm>
          <a:prstGeom prst="rect">
            <a:avLst/>
          </a:prstGeom>
          <a:noFill/>
        </p:spPr>
        <p:txBody>
          <a:bodyPr wrap="square" anchor="t">
            <a:spAutoFit/>
          </a:bodyPr>
          <a:lstStyle/>
          <a:p>
            <a:pPr algn="l"/>
            <a:r>
              <a:rPr sz="1200" b="0">
                <a:solidFill>
                  <a:srgbClr val="667085"/>
                </a:solidFill>
                <a:latin typeface="Aptos"/>
              </a:rPr>
              <a:t>Comercial</a:t>
            </a:r>
          </a:p>
        </p:txBody>
      </p:sp>
      <p:sp>
        <p:nvSpPr>
          <p:cNvPr id="28" name="Rounded Rectangle 27"/>
          <p:cNvSpPr/>
          <p:nvPr/>
        </p:nvSpPr>
        <p:spPr>
          <a:xfrm>
            <a:off x="6345936" y="3044952"/>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6492240" y="3209544"/>
            <a:ext cx="384048" cy="307777"/>
          </a:xfrm>
          <a:prstGeom prst="rect">
            <a:avLst/>
          </a:prstGeom>
          <a:noFill/>
        </p:spPr>
        <p:txBody>
          <a:bodyPr wrap="square" anchor="t">
            <a:spAutoFit/>
          </a:bodyPr>
          <a:lstStyle/>
          <a:p>
            <a:pPr algn="l"/>
            <a:r>
              <a:rPr sz="1400" b="1">
                <a:solidFill>
                  <a:srgbClr val="2563EB"/>
                </a:solidFill>
                <a:latin typeface="Aptos"/>
              </a:rPr>
              <a:t>07</a:t>
            </a:r>
          </a:p>
        </p:txBody>
      </p:sp>
      <p:sp>
        <p:nvSpPr>
          <p:cNvPr id="30" name="TextBox 29"/>
          <p:cNvSpPr txBox="1"/>
          <p:nvPr/>
        </p:nvSpPr>
        <p:spPr>
          <a:xfrm>
            <a:off x="6912864" y="3191256"/>
            <a:ext cx="1783080" cy="707886"/>
          </a:xfrm>
          <a:prstGeom prst="rect">
            <a:avLst/>
          </a:prstGeom>
          <a:noFill/>
        </p:spPr>
        <p:txBody>
          <a:bodyPr wrap="square" anchor="t">
            <a:spAutoFit/>
          </a:bodyPr>
          <a:lstStyle/>
          <a:p>
            <a:pPr algn="l"/>
            <a:r>
              <a:rPr sz="2000" b="1">
                <a:solidFill>
                  <a:srgbClr val="182230"/>
                </a:solidFill>
                <a:latin typeface="Aptos"/>
              </a:rPr>
              <a:t>DetalleVentas</a:t>
            </a:r>
          </a:p>
        </p:txBody>
      </p:sp>
      <p:sp>
        <p:nvSpPr>
          <p:cNvPr id="31" name="TextBox 30"/>
          <p:cNvSpPr txBox="1"/>
          <p:nvPr/>
        </p:nvSpPr>
        <p:spPr>
          <a:xfrm>
            <a:off x="6912864" y="3557016"/>
            <a:ext cx="1600200" cy="276999"/>
          </a:xfrm>
          <a:prstGeom prst="rect">
            <a:avLst/>
          </a:prstGeom>
          <a:noFill/>
        </p:spPr>
        <p:txBody>
          <a:bodyPr wrap="square" anchor="t">
            <a:spAutoFit/>
          </a:bodyPr>
          <a:lstStyle/>
          <a:p>
            <a:pPr algn="l"/>
            <a:r>
              <a:rPr sz="1200" b="0">
                <a:solidFill>
                  <a:srgbClr val="667085"/>
                </a:solidFill>
                <a:latin typeface="Aptos"/>
              </a:rPr>
              <a:t>Comercial</a:t>
            </a:r>
          </a:p>
        </p:txBody>
      </p:sp>
      <p:sp>
        <p:nvSpPr>
          <p:cNvPr id="32" name="Rounded Rectangle 31"/>
          <p:cNvSpPr/>
          <p:nvPr/>
        </p:nvSpPr>
        <p:spPr>
          <a:xfrm>
            <a:off x="9198863" y="3044952"/>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9345167" y="3209544"/>
            <a:ext cx="384048" cy="307777"/>
          </a:xfrm>
          <a:prstGeom prst="rect">
            <a:avLst/>
          </a:prstGeom>
          <a:noFill/>
        </p:spPr>
        <p:txBody>
          <a:bodyPr wrap="square" anchor="t">
            <a:spAutoFit/>
          </a:bodyPr>
          <a:lstStyle/>
          <a:p>
            <a:pPr algn="l"/>
            <a:r>
              <a:rPr sz="1400" b="1">
                <a:solidFill>
                  <a:srgbClr val="2563EB"/>
                </a:solidFill>
                <a:latin typeface="Aptos"/>
              </a:rPr>
              <a:t>08</a:t>
            </a:r>
          </a:p>
        </p:txBody>
      </p:sp>
      <p:sp>
        <p:nvSpPr>
          <p:cNvPr id="34" name="TextBox 33"/>
          <p:cNvSpPr txBox="1"/>
          <p:nvPr/>
        </p:nvSpPr>
        <p:spPr>
          <a:xfrm>
            <a:off x="9765791" y="3191256"/>
            <a:ext cx="1783080" cy="400110"/>
          </a:xfrm>
          <a:prstGeom prst="rect">
            <a:avLst/>
          </a:prstGeom>
          <a:noFill/>
        </p:spPr>
        <p:txBody>
          <a:bodyPr wrap="square" anchor="t">
            <a:spAutoFit/>
          </a:bodyPr>
          <a:lstStyle/>
          <a:p>
            <a:pPr algn="l"/>
            <a:r>
              <a:rPr sz="2000" b="1">
                <a:solidFill>
                  <a:srgbClr val="182230"/>
                </a:solidFill>
                <a:latin typeface="Aptos"/>
              </a:rPr>
              <a:t>Inventario</a:t>
            </a:r>
          </a:p>
        </p:txBody>
      </p:sp>
      <p:sp>
        <p:nvSpPr>
          <p:cNvPr id="35" name="TextBox 34"/>
          <p:cNvSpPr txBox="1"/>
          <p:nvPr/>
        </p:nvSpPr>
        <p:spPr>
          <a:xfrm>
            <a:off x="9765791" y="3557016"/>
            <a:ext cx="1600200" cy="276999"/>
          </a:xfrm>
          <a:prstGeom prst="rect">
            <a:avLst/>
          </a:prstGeom>
          <a:noFill/>
        </p:spPr>
        <p:txBody>
          <a:bodyPr wrap="square" anchor="t">
            <a:spAutoFit/>
          </a:bodyPr>
          <a:lstStyle/>
          <a:p>
            <a:pPr algn="l"/>
            <a:r>
              <a:rPr sz="1200" b="0">
                <a:solidFill>
                  <a:srgbClr val="667085"/>
                </a:solidFill>
                <a:latin typeface="Aptos"/>
              </a:rPr>
              <a:t>Inventario</a:t>
            </a:r>
          </a:p>
        </p:txBody>
      </p:sp>
      <p:sp>
        <p:nvSpPr>
          <p:cNvPr id="36" name="Rounded Rectangle 35"/>
          <p:cNvSpPr/>
          <p:nvPr/>
        </p:nvSpPr>
        <p:spPr>
          <a:xfrm>
            <a:off x="640080" y="4398264"/>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7" name="TextBox 36"/>
          <p:cNvSpPr txBox="1"/>
          <p:nvPr/>
        </p:nvSpPr>
        <p:spPr>
          <a:xfrm>
            <a:off x="786384" y="4562856"/>
            <a:ext cx="384048" cy="307777"/>
          </a:xfrm>
          <a:prstGeom prst="rect">
            <a:avLst/>
          </a:prstGeom>
          <a:noFill/>
        </p:spPr>
        <p:txBody>
          <a:bodyPr wrap="square" anchor="t">
            <a:spAutoFit/>
          </a:bodyPr>
          <a:lstStyle/>
          <a:p>
            <a:pPr algn="l"/>
            <a:r>
              <a:rPr sz="1400" b="1">
                <a:solidFill>
                  <a:srgbClr val="2563EB"/>
                </a:solidFill>
                <a:latin typeface="Aptos"/>
              </a:rPr>
              <a:t>09</a:t>
            </a:r>
          </a:p>
        </p:txBody>
      </p:sp>
      <p:sp>
        <p:nvSpPr>
          <p:cNvPr id="38" name="TextBox 37"/>
          <p:cNvSpPr txBox="1"/>
          <p:nvPr/>
        </p:nvSpPr>
        <p:spPr>
          <a:xfrm>
            <a:off x="1207007" y="4544568"/>
            <a:ext cx="1783080" cy="400110"/>
          </a:xfrm>
          <a:prstGeom prst="rect">
            <a:avLst/>
          </a:prstGeom>
          <a:noFill/>
        </p:spPr>
        <p:txBody>
          <a:bodyPr wrap="square" anchor="t">
            <a:spAutoFit/>
          </a:bodyPr>
          <a:lstStyle/>
          <a:p>
            <a:pPr algn="l"/>
            <a:r>
              <a:rPr sz="2000" b="1">
                <a:solidFill>
                  <a:srgbClr val="182230"/>
                </a:solidFill>
                <a:latin typeface="Aptos"/>
              </a:rPr>
              <a:t>Devoluciones</a:t>
            </a:r>
          </a:p>
        </p:txBody>
      </p:sp>
      <p:sp>
        <p:nvSpPr>
          <p:cNvPr id="39" name="TextBox 38"/>
          <p:cNvSpPr txBox="1"/>
          <p:nvPr/>
        </p:nvSpPr>
        <p:spPr>
          <a:xfrm>
            <a:off x="1207007" y="4910328"/>
            <a:ext cx="1600200" cy="276999"/>
          </a:xfrm>
          <a:prstGeom prst="rect">
            <a:avLst/>
          </a:prstGeom>
          <a:noFill/>
        </p:spPr>
        <p:txBody>
          <a:bodyPr wrap="square" anchor="t">
            <a:spAutoFit/>
          </a:bodyPr>
          <a:lstStyle/>
          <a:p>
            <a:pPr algn="l"/>
            <a:r>
              <a:rPr sz="1200" b="0">
                <a:solidFill>
                  <a:srgbClr val="667085"/>
                </a:solidFill>
                <a:latin typeface="Aptos"/>
              </a:rPr>
              <a:t>Comercial</a:t>
            </a:r>
          </a:p>
        </p:txBody>
      </p:sp>
      <p:sp>
        <p:nvSpPr>
          <p:cNvPr id="40" name="Rounded Rectangle 39"/>
          <p:cNvSpPr/>
          <p:nvPr/>
        </p:nvSpPr>
        <p:spPr>
          <a:xfrm>
            <a:off x="3493008" y="4398264"/>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1" name="TextBox 40"/>
          <p:cNvSpPr txBox="1"/>
          <p:nvPr/>
        </p:nvSpPr>
        <p:spPr>
          <a:xfrm>
            <a:off x="3639312" y="4562856"/>
            <a:ext cx="384048" cy="307777"/>
          </a:xfrm>
          <a:prstGeom prst="rect">
            <a:avLst/>
          </a:prstGeom>
          <a:noFill/>
        </p:spPr>
        <p:txBody>
          <a:bodyPr wrap="square" anchor="t">
            <a:spAutoFit/>
          </a:bodyPr>
          <a:lstStyle/>
          <a:p>
            <a:pPr algn="l"/>
            <a:r>
              <a:rPr sz="1400" b="1">
                <a:solidFill>
                  <a:srgbClr val="2563EB"/>
                </a:solidFill>
                <a:latin typeface="Aptos"/>
              </a:rPr>
              <a:t>10</a:t>
            </a:r>
          </a:p>
        </p:txBody>
      </p:sp>
      <p:sp>
        <p:nvSpPr>
          <p:cNvPr id="42" name="TextBox 41"/>
          <p:cNvSpPr txBox="1"/>
          <p:nvPr/>
        </p:nvSpPr>
        <p:spPr>
          <a:xfrm>
            <a:off x="4059936" y="4544568"/>
            <a:ext cx="1783080" cy="400110"/>
          </a:xfrm>
          <a:prstGeom prst="rect">
            <a:avLst/>
          </a:prstGeom>
          <a:noFill/>
        </p:spPr>
        <p:txBody>
          <a:bodyPr wrap="square" anchor="t">
            <a:spAutoFit/>
          </a:bodyPr>
          <a:lstStyle/>
          <a:p>
            <a:pPr algn="l"/>
            <a:r>
              <a:rPr sz="2000" b="1">
                <a:solidFill>
                  <a:srgbClr val="182230"/>
                </a:solidFill>
                <a:latin typeface="Aptos"/>
              </a:rPr>
              <a:t>MétodosPago</a:t>
            </a:r>
          </a:p>
        </p:txBody>
      </p:sp>
      <p:sp>
        <p:nvSpPr>
          <p:cNvPr id="43" name="TextBox 42"/>
          <p:cNvSpPr txBox="1"/>
          <p:nvPr/>
        </p:nvSpPr>
        <p:spPr>
          <a:xfrm>
            <a:off x="4059936" y="4910328"/>
            <a:ext cx="1600200" cy="276999"/>
          </a:xfrm>
          <a:prstGeom prst="rect">
            <a:avLst/>
          </a:prstGeom>
          <a:noFill/>
        </p:spPr>
        <p:txBody>
          <a:bodyPr wrap="square" anchor="t">
            <a:spAutoFit/>
          </a:bodyPr>
          <a:lstStyle/>
          <a:p>
            <a:pPr algn="l"/>
            <a:r>
              <a:rPr sz="1200" b="0">
                <a:solidFill>
                  <a:srgbClr val="667085"/>
                </a:solidFill>
                <a:latin typeface="Aptos"/>
              </a:rPr>
              <a:t>Admin.</a:t>
            </a:r>
          </a:p>
        </p:txBody>
      </p:sp>
      <p:sp>
        <p:nvSpPr>
          <p:cNvPr id="44" name="Rounded Rectangle 43"/>
          <p:cNvSpPr/>
          <p:nvPr/>
        </p:nvSpPr>
        <p:spPr>
          <a:xfrm>
            <a:off x="6345936" y="4398264"/>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5" name="TextBox 44"/>
          <p:cNvSpPr txBox="1"/>
          <p:nvPr/>
        </p:nvSpPr>
        <p:spPr>
          <a:xfrm>
            <a:off x="6492240" y="4562856"/>
            <a:ext cx="384048" cy="307777"/>
          </a:xfrm>
          <a:prstGeom prst="rect">
            <a:avLst/>
          </a:prstGeom>
          <a:noFill/>
        </p:spPr>
        <p:txBody>
          <a:bodyPr wrap="square" anchor="t">
            <a:spAutoFit/>
          </a:bodyPr>
          <a:lstStyle/>
          <a:p>
            <a:pPr algn="l"/>
            <a:r>
              <a:rPr sz="1400" b="1">
                <a:solidFill>
                  <a:srgbClr val="2563EB"/>
                </a:solidFill>
                <a:latin typeface="Aptos"/>
              </a:rPr>
              <a:t>11</a:t>
            </a:r>
          </a:p>
        </p:txBody>
      </p:sp>
      <p:sp>
        <p:nvSpPr>
          <p:cNvPr id="46" name="TextBox 45"/>
          <p:cNvSpPr txBox="1"/>
          <p:nvPr/>
        </p:nvSpPr>
        <p:spPr>
          <a:xfrm>
            <a:off x="6912864" y="4544568"/>
            <a:ext cx="1783080" cy="400110"/>
          </a:xfrm>
          <a:prstGeom prst="rect">
            <a:avLst/>
          </a:prstGeom>
          <a:noFill/>
        </p:spPr>
        <p:txBody>
          <a:bodyPr wrap="square" anchor="t">
            <a:spAutoFit/>
          </a:bodyPr>
          <a:lstStyle/>
          <a:p>
            <a:pPr algn="l"/>
            <a:r>
              <a:rPr sz="2000" b="1">
                <a:solidFill>
                  <a:srgbClr val="182230"/>
                </a:solidFill>
                <a:latin typeface="Aptos"/>
              </a:rPr>
              <a:t>Sucursales</a:t>
            </a:r>
          </a:p>
        </p:txBody>
      </p:sp>
      <p:sp>
        <p:nvSpPr>
          <p:cNvPr id="47" name="TextBox 46"/>
          <p:cNvSpPr txBox="1"/>
          <p:nvPr/>
        </p:nvSpPr>
        <p:spPr>
          <a:xfrm>
            <a:off x="6912864" y="4910328"/>
            <a:ext cx="1600200" cy="276999"/>
          </a:xfrm>
          <a:prstGeom prst="rect">
            <a:avLst/>
          </a:prstGeom>
          <a:noFill/>
        </p:spPr>
        <p:txBody>
          <a:bodyPr wrap="square" anchor="t">
            <a:spAutoFit/>
          </a:bodyPr>
          <a:lstStyle/>
          <a:p>
            <a:pPr algn="l"/>
            <a:r>
              <a:rPr sz="1200" b="0">
                <a:solidFill>
                  <a:srgbClr val="667085"/>
                </a:solidFill>
                <a:latin typeface="Aptos"/>
              </a:rPr>
              <a:t>Admin.</a:t>
            </a:r>
          </a:p>
        </p:txBody>
      </p:sp>
      <p:sp>
        <p:nvSpPr>
          <p:cNvPr id="48" name="Rounded Rectangle 47"/>
          <p:cNvSpPr/>
          <p:nvPr/>
        </p:nvSpPr>
        <p:spPr>
          <a:xfrm>
            <a:off x="9198863" y="4398264"/>
            <a:ext cx="2578608" cy="987552"/>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9" name="TextBox 48"/>
          <p:cNvSpPr txBox="1"/>
          <p:nvPr/>
        </p:nvSpPr>
        <p:spPr>
          <a:xfrm>
            <a:off x="9345167" y="4562856"/>
            <a:ext cx="384048" cy="307777"/>
          </a:xfrm>
          <a:prstGeom prst="rect">
            <a:avLst/>
          </a:prstGeom>
          <a:noFill/>
        </p:spPr>
        <p:txBody>
          <a:bodyPr wrap="square" anchor="t">
            <a:spAutoFit/>
          </a:bodyPr>
          <a:lstStyle/>
          <a:p>
            <a:pPr algn="l"/>
            <a:r>
              <a:rPr sz="1400" b="1">
                <a:solidFill>
                  <a:srgbClr val="2563EB"/>
                </a:solidFill>
                <a:latin typeface="Aptos"/>
              </a:rPr>
              <a:t>12</a:t>
            </a:r>
          </a:p>
        </p:txBody>
      </p:sp>
      <p:sp>
        <p:nvSpPr>
          <p:cNvPr id="50" name="TextBox 49"/>
          <p:cNvSpPr txBox="1"/>
          <p:nvPr/>
        </p:nvSpPr>
        <p:spPr>
          <a:xfrm>
            <a:off x="9765791" y="4544568"/>
            <a:ext cx="1783080" cy="400110"/>
          </a:xfrm>
          <a:prstGeom prst="rect">
            <a:avLst/>
          </a:prstGeom>
          <a:noFill/>
        </p:spPr>
        <p:txBody>
          <a:bodyPr wrap="square" anchor="t">
            <a:spAutoFit/>
          </a:bodyPr>
          <a:lstStyle/>
          <a:p>
            <a:pPr algn="l"/>
            <a:r>
              <a:rPr sz="2000" b="1">
                <a:solidFill>
                  <a:srgbClr val="182230"/>
                </a:solidFill>
                <a:latin typeface="Aptos"/>
              </a:rPr>
              <a:t>Usuarios</a:t>
            </a:r>
          </a:p>
        </p:txBody>
      </p:sp>
      <p:sp>
        <p:nvSpPr>
          <p:cNvPr id="51" name="TextBox 50"/>
          <p:cNvSpPr txBox="1"/>
          <p:nvPr/>
        </p:nvSpPr>
        <p:spPr>
          <a:xfrm>
            <a:off x="9765791" y="4910328"/>
            <a:ext cx="1600200" cy="276999"/>
          </a:xfrm>
          <a:prstGeom prst="rect">
            <a:avLst/>
          </a:prstGeom>
          <a:noFill/>
        </p:spPr>
        <p:txBody>
          <a:bodyPr wrap="square" anchor="t">
            <a:spAutoFit/>
          </a:bodyPr>
          <a:lstStyle/>
          <a:p>
            <a:pPr algn="l"/>
            <a:r>
              <a:rPr sz="1200" b="0">
                <a:solidFill>
                  <a:srgbClr val="667085"/>
                </a:solidFill>
                <a:latin typeface="Aptos"/>
              </a:rPr>
              <a:t>Admin.</a:t>
            </a:r>
          </a:p>
        </p:txBody>
      </p:sp>
      <p:sp>
        <p:nvSpPr>
          <p:cNvPr id="52" name="TextBox 51"/>
          <p:cNvSpPr txBox="1"/>
          <p:nvPr/>
        </p:nvSpPr>
        <p:spPr>
          <a:xfrm>
            <a:off x="640080" y="6519672"/>
            <a:ext cx="5029200" cy="164592"/>
          </a:xfrm>
          <a:prstGeom prst="rect">
            <a:avLst/>
          </a:prstGeom>
          <a:noFill/>
        </p:spPr>
        <p:txBody>
          <a:bodyPr wrap="square" anchor="t">
            <a:spAutoFit/>
          </a:bodyPr>
          <a:lstStyle/>
          <a:p>
            <a:pPr algn="l"/>
            <a:r>
              <a:rPr sz="800" b="1">
                <a:solidFill>
                  <a:srgbClr val="667085"/>
                </a:solidFill>
                <a:latin typeface="Aptos"/>
              </a:rPr>
              <a:t>NOVA TECH SOLUTIONS  •  BASE DE DATOS NOSQL</a:t>
            </a:r>
          </a:p>
        </p:txBody>
      </p:sp>
      <p:sp>
        <p:nvSpPr>
          <p:cNvPr id="53" name="TextBox 52"/>
          <p:cNvSpPr txBox="1"/>
          <p:nvPr/>
        </p:nvSpPr>
        <p:spPr>
          <a:xfrm>
            <a:off x="11155680" y="6492240"/>
            <a:ext cx="411480" cy="182880"/>
          </a:xfrm>
          <a:prstGeom prst="rect">
            <a:avLst/>
          </a:prstGeom>
          <a:noFill/>
        </p:spPr>
        <p:txBody>
          <a:bodyPr wrap="square" anchor="t">
            <a:spAutoFit/>
          </a:bodyPr>
          <a:lstStyle/>
          <a:p>
            <a:pPr algn="r"/>
            <a:r>
              <a:rPr sz="800" b="1">
                <a:solidFill>
                  <a:srgbClr val="667085"/>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4114800" cy="274320"/>
          </a:xfrm>
          <a:prstGeom prst="rect">
            <a:avLst/>
          </a:prstGeom>
          <a:noFill/>
        </p:spPr>
        <p:txBody>
          <a:bodyPr wrap="square" anchor="t">
            <a:spAutoFit/>
          </a:bodyPr>
          <a:lstStyle/>
          <a:p>
            <a:pPr algn="l"/>
            <a:r>
              <a:rPr sz="1000" b="1">
                <a:solidFill>
                  <a:srgbClr val="2563EB"/>
                </a:solidFill>
                <a:latin typeface="Aptos"/>
              </a:rPr>
              <a:t>05 · INTEGRACIÓN</a:t>
            </a:r>
          </a:p>
        </p:txBody>
      </p:sp>
      <p:sp>
        <p:nvSpPr>
          <p:cNvPr id="3" name="TextBox 2"/>
          <p:cNvSpPr txBox="1"/>
          <p:nvPr/>
        </p:nvSpPr>
        <p:spPr>
          <a:xfrm>
            <a:off x="640080" y="749808"/>
            <a:ext cx="10789920" cy="548640"/>
          </a:xfrm>
          <a:prstGeom prst="rect">
            <a:avLst/>
          </a:prstGeom>
          <a:noFill/>
        </p:spPr>
        <p:txBody>
          <a:bodyPr wrap="square" anchor="t">
            <a:spAutoFit/>
          </a:bodyPr>
          <a:lstStyle/>
          <a:p>
            <a:pPr algn="l"/>
            <a:r>
              <a:rPr sz="2700" b="1">
                <a:solidFill>
                  <a:srgbClr val="182230"/>
                </a:solidFill>
                <a:latin typeface="Aptos"/>
              </a:rPr>
              <a:t>Reglas de negocio que conectan las colecciones</a:t>
            </a:r>
          </a:p>
        </p:txBody>
      </p:sp>
      <p:sp>
        <p:nvSpPr>
          <p:cNvPr id="4" name="Rounded Rectangle 3"/>
          <p:cNvSpPr/>
          <p:nvPr/>
        </p:nvSpPr>
        <p:spPr>
          <a:xfrm>
            <a:off x="577517" y="1799926"/>
            <a:ext cx="1710891" cy="399217"/>
          </a:xfrm>
          <a:prstGeom prst="roundRect">
            <a:avLst/>
          </a:prstGeom>
          <a:solidFill>
            <a:srgbClr val="10B98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 name="TextBox 4"/>
          <p:cNvSpPr txBox="1"/>
          <p:nvPr/>
        </p:nvSpPr>
        <p:spPr>
          <a:xfrm>
            <a:off x="529389" y="1854311"/>
            <a:ext cx="1828800" cy="307777"/>
          </a:xfrm>
          <a:prstGeom prst="rect">
            <a:avLst/>
          </a:prstGeom>
          <a:noFill/>
        </p:spPr>
        <p:txBody>
          <a:bodyPr wrap="square" anchor="t">
            <a:spAutoFit/>
          </a:bodyPr>
          <a:lstStyle/>
          <a:p>
            <a:pPr algn="ctr"/>
            <a:r>
              <a:rPr sz="1400" b="1" dirty="0">
                <a:solidFill>
                  <a:srgbClr val="FFFFFF"/>
                </a:solidFill>
                <a:latin typeface="Aptos"/>
              </a:rPr>
              <a:t>COMPRA RECIBIDA</a:t>
            </a:r>
          </a:p>
        </p:txBody>
      </p:sp>
      <p:sp>
        <p:nvSpPr>
          <p:cNvPr id="6" name="Rounded Rectangle 5"/>
          <p:cNvSpPr/>
          <p:nvPr/>
        </p:nvSpPr>
        <p:spPr>
          <a:xfrm>
            <a:off x="2606040" y="1618488"/>
            <a:ext cx="2331720" cy="749808"/>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TextBox 6"/>
          <p:cNvSpPr txBox="1"/>
          <p:nvPr/>
        </p:nvSpPr>
        <p:spPr>
          <a:xfrm>
            <a:off x="2715768" y="1810512"/>
            <a:ext cx="2103120" cy="369332"/>
          </a:xfrm>
          <a:prstGeom prst="rect">
            <a:avLst/>
          </a:prstGeom>
          <a:noFill/>
        </p:spPr>
        <p:txBody>
          <a:bodyPr wrap="square" anchor="t">
            <a:spAutoFit/>
          </a:bodyPr>
          <a:lstStyle/>
          <a:p>
            <a:pPr algn="ctr"/>
            <a:r>
              <a:rPr b="1">
                <a:solidFill>
                  <a:srgbClr val="182230"/>
                </a:solidFill>
                <a:latin typeface="Aptos"/>
              </a:rPr>
              <a:t>Compra</a:t>
            </a:r>
          </a:p>
        </p:txBody>
      </p:sp>
      <p:cxnSp>
        <p:nvCxnSpPr>
          <p:cNvPr id="8" name="Connector 7"/>
          <p:cNvCxnSpPr/>
          <p:nvPr/>
        </p:nvCxnSpPr>
        <p:spPr>
          <a:xfrm>
            <a:off x="4965192" y="1993392"/>
            <a:ext cx="38404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394960" y="1618488"/>
            <a:ext cx="2331720" cy="749808"/>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5504688" y="1810512"/>
            <a:ext cx="2103120" cy="369332"/>
          </a:xfrm>
          <a:prstGeom prst="rect">
            <a:avLst/>
          </a:prstGeom>
          <a:noFill/>
        </p:spPr>
        <p:txBody>
          <a:bodyPr wrap="square" anchor="t">
            <a:spAutoFit/>
          </a:bodyPr>
          <a:lstStyle/>
          <a:p>
            <a:pPr algn="ctr"/>
            <a:r>
              <a:rPr b="1">
                <a:solidFill>
                  <a:srgbClr val="182230"/>
                </a:solidFill>
                <a:latin typeface="Aptos"/>
              </a:rPr>
              <a:t>Aumenta stock</a:t>
            </a:r>
          </a:p>
        </p:txBody>
      </p:sp>
      <p:cxnSp>
        <p:nvCxnSpPr>
          <p:cNvPr id="11" name="Connector 10"/>
          <p:cNvCxnSpPr/>
          <p:nvPr/>
        </p:nvCxnSpPr>
        <p:spPr>
          <a:xfrm>
            <a:off x="7754112" y="1993392"/>
            <a:ext cx="384048"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83879" y="1618488"/>
            <a:ext cx="2331720" cy="749808"/>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3" name="TextBox 12"/>
          <p:cNvSpPr txBox="1"/>
          <p:nvPr/>
        </p:nvSpPr>
        <p:spPr>
          <a:xfrm>
            <a:off x="8293607" y="1810512"/>
            <a:ext cx="2103120" cy="646331"/>
          </a:xfrm>
          <a:prstGeom prst="rect">
            <a:avLst/>
          </a:prstGeom>
          <a:noFill/>
        </p:spPr>
        <p:txBody>
          <a:bodyPr wrap="square" anchor="t">
            <a:spAutoFit/>
          </a:bodyPr>
          <a:lstStyle/>
          <a:p>
            <a:pPr algn="ctr"/>
            <a:r>
              <a:rPr b="1">
                <a:solidFill>
                  <a:srgbClr val="182230"/>
                </a:solidFill>
                <a:latin typeface="Aptos"/>
              </a:rPr>
              <a:t>Movimiento Entrada</a:t>
            </a:r>
          </a:p>
        </p:txBody>
      </p:sp>
      <p:sp>
        <p:nvSpPr>
          <p:cNvPr id="14" name="Rounded Rectangle 13"/>
          <p:cNvSpPr/>
          <p:nvPr/>
        </p:nvSpPr>
        <p:spPr>
          <a:xfrm>
            <a:off x="577517" y="3308686"/>
            <a:ext cx="1710891" cy="399217"/>
          </a:xfrm>
          <a:prstGeom prst="roundRect">
            <a:avLst/>
          </a:prstGeom>
          <a:solidFill>
            <a:srgbClr val="2563E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640080" y="3363071"/>
            <a:ext cx="1600200" cy="307777"/>
          </a:xfrm>
          <a:prstGeom prst="rect">
            <a:avLst/>
          </a:prstGeom>
          <a:noFill/>
        </p:spPr>
        <p:txBody>
          <a:bodyPr wrap="square" anchor="t">
            <a:spAutoFit/>
          </a:bodyPr>
          <a:lstStyle/>
          <a:p>
            <a:pPr algn="ctr"/>
            <a:r>
              <a:rPr sz="1400" b="1">
                <a:solidFill>
                  <a:srgbClr val="FFFFFF"/>
                </a:solidFill>
                <a:latin typeface="Aptos"/>
              </a:rPr>
              <a:t>VENTA</a:t>
            </a:r>
          </a:p>
        </p:txBody>
      </p:sp>
      <p:sp>
        <p:nvSpPr>
          <p:cNvPr id="16" name="Rounded Rectangle 15"/>
          <p:cNvSpPr/>
          <p:nvPr/>
        </p:nvSpPr>
        <p:spPr>
          <a:xfrm>
            <a:off x="2606040" y="3127248"/>
            <a:ext cx="2331720" cy="749808"/>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715768" y="3319272"/>
            <a:ext cx="2103120" cy="369332"/>
          </a:xfrm>
          <a:prstGeom prst="rect">
            <a:avLst/>
          </a:prstGeom>
          <a:noFill/>
        </p:spPr>
        <p:txBody>
          <a:bodyPr wrap="square" anchor="t">
            <a:spAutoFit/>
          </a:bodyPr>
          <a:lstStyle/>
          <a:p>
            <a:pPr algn="ctr"/>
            <a:r>
              <a:rPr b="1">
                <a:solidFill>
                  <a:srgbClr val="182230"/>
                </a:solidFill>
                <a:latin typeface="Aptos"/>
              </a:rPr>
              <a:t>Valida stock</a:t>
            </a:r>
          </a:p>
        </p:txBody>
      </p:sp>
      <p:cxnSp>
        <p:nvCxnSpPr>
          <p:cNvPr id="18" name="Connector 17"/>
          <p:cNvCxnSpPr/>
          <p:nvPr/>
        </p:nvCxnSpPr>
        <p:spPr>
          <a:xfrm>
            <a:off x="4965192" y="3502152"/>
            <a:ext cx="384048"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394960" y="3127248"/>
            <a:ext cx="2331720" cy="749808"/>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0" name="TextBox 19"/>
          <p:cNvSpPr txBox="1"/>
          <p:nvPr/>
        </p:nvSpPr>
        <p:spPr>
          <a:xfrm>
            <a:off x="5504688" y="3319272"/>
            <a:ext cx="2103120" cy="369332"/>
          </a:xfrm>
          <a:prstGeom prst="rect">
            <a:avLst/>
          </a:prstGeom>
          <a:noFill/>
        </p:spPr>
        <p:txBody>
          <a:bodyPr wrap="square" anchor="t">
            <a:spAutoFit/>
          </a:bodyPr>
          <a:lstStyle/>
          <a:p>
            <a:pPr algn="ctr"/>
            <a:r>
              <a:rPr b="1">
                <a:solidFill>
                  <a:srgbClr val="182230"/>
                </a:solidFill>
                <a:latin typeface="Aptos"/>
              </a:rPr>
              <a:t>Calcula total</a:t>
            </a:r>
          </a:p>
        </p:txBody>
      </p:sp>
      <p:cxnSp>
        <p:nvCxnSpPr>
          <p:cNvPr id="21" name="Connector 20"/>
          <p:cNvCxnSpPr/>
          <p:nvPr/>
        </p:nvCxnSpPr>
        <p:spPr>
          <a:xfrm>
            <a:off x="7754112" y="3502152"/>
            <a:ext cx="384048"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83879" y="3127248"/>
            <a:ext cx="2331720" cy="749808"/>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8293607" y="3319272"/>
            <a:ext cx="2103120" cy="369332"/>
          </a:xfrm>
          <a:prstGeom prst="rect">
            <a:avLst/>
          </a:prstGeom>
          <a:noFill/>
        </p:spPr>
        <p:txBody>
          <a:bodyPr wrap="square" anchor="t">
            <a:spAutoFit/>
          </a:bodyPr>
          <a:lstStyle/>
          <a:p>
            <a:pPr algn="ctr"/>
            <a:r>
              <a:rPr b="1">
                <a:solidFill>
                  <a:srgbClr val="182230"/>
                </a:solidFill>
                <a:latin typeface="Aptos"/>
              </a:rPr>
              <a:t>Detalle + Salida</a:t>
            </a:r>
          </a:p>
        </p:txBody>
      </p:sp>
      <p:sp>
        <p:nvSpPr>
          <p:cNvPr id="24" name="Rounded Rectangle 23"/>
          <p:cNvSpPr/>
          <p:nvPr/>
        </p:nvSpPr>
        <p:spPr>
          <a:xfrm>
            <a:off x="577517" y="4817446"/>
            <a:ext cx="1710891" cy="399217"/>
          </a:xfrm>
          <a:prstGeom prst="roundRect">
            <a:avLst/>
          </a:prstGeom>
          <a:solidFill>
            <a:srgbClr val="0EA5E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640080" y="4871831"/>
            <a:ext cx="1600200" cy="307777"/>
          </a:xfrm>
          <a:prstGeom prst="rect">
            <a:avLst/>
          </a:prstGeom>
          <a:noFill/>
        </p:spPr>
        <p:txBody>
          <a:bodyPr wrap="square" anchor="t">
            <a:spAutoFit/>
          </a:bodyPr>
          <a:lstStyle/>
          <a:p>
            <a:pPr algn="ctr"/>
            <a:r>
              <a:rPr sz="1400" b="1">
                <a:solidFill>
                  <a:srgbClr val="FFFFFF"/>
                </a:solidFill>
                <a:latin typeface="Aptos"/>
              </a:rPr>
              <a:t>DEVOLUCIÓN</a:t>
            </a:r>
          </a:p>
        </p:txBody>
      </p:sp>
      <p:sp>
        <p:nvSpPr>
          <p:cNvPr id="26" name="Rounded Rectangle 25"/>
          <p:cNvSpPr/>
          <p:nvPr/>
        </p:nvSpPr>
        <p:spPr>
          <a:xfrm>
            <a:off x="2606040" y="4636008"/>
            <a:ext cx="2331720" cy="749808"/>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715768" y="4828032"/>
            <a:ext cx="2103120" cy="369332"/>
          </a:xfrm>
          <a:prstGeom prst="rect">
            <a:avLst/>
          </a:prstGeom>
          <a:noFill/>
        </p:spPr>
        <p:txBody>
          <a:bodyPr wrap="square" anchor="t">
            <a:spAutoFit/>
          </a:bodyPr>
          <a:lstStyle/>
          <a:p>
            <a:pPr algn="ctr"/>
            <a:r>
              <a:rPr b="1">
                <a:solidFill>
                  <a:srgbClr val="182230"/>
                </a:solidFill>
                <a:latin typeface="Aptos"/>
              </a:rPr>
              <a:t>Valida venta</a:t>
            </a:r>
          </a:p>
        </p:txBody>
      </p:sp>
      <p:cxnSp>
        <p:nvCxnSpPr>
          <p:cNvPr id="28" name="Connector 27"/>
          <p:cNvCxnSpPr/>
          <p:nvPr/>
        </p:nvCxnSpPr>
        <p:spPr>
          <a:xfrm>
            <a:off x="4965192" y="5010912"/>
            <a:ext cx="384048" cy="0"/>
          </a:xfrm>
          <a:prstGeom prst="line">
            <a:avLst/>
          </a:prstGeom>
          <a:ln w="25400">
            <a:solidFill>
              <a:srgbClr val="0EA5E9"/>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394960" y="4636008"/>
            <a:ext cx="2331720" cy="749808"/>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p:cNvSpPr txBox="1"/>
          <p:nvPr/>
        </p:nvSpPr>
        <p:spPr>
          <a:xfrm>
            <a:off x="5504688" y="4828032"/>
            <a:ext cx="2103120" cy="369332"/>
          </a:xfrm>
          <a:prstGeom prst="rect">
            <a:avLst/>
          </a:prstGeom>
          <a:noFill/>
        </p:spPr>
        <p:txBody>
          <a:bodyPr wrap="square" anchor="t">
            <a:spAutoFit/>
          </a:bodyPr>
          <a:lstStyle/>
          <a:p>
            <a:pPr algn="ctr"/>
            <a:r>
              <a:rPr b="1">
                <a:solidFill>
                  <a:srgbClr val="182230"/>
                </a:solidFill>
                <a:latin typeface="Aptos"/>
              </a:rPr>
              <a:t>Valida cantidad</a:t>
            </a:r>
          </a:p>
        </p:txBody>
      </p:sp>
      <p:cxnSp>
        <p:nvCxnSpPr>
          <p:cNvPr id="31" name="Connector 30"/>
          <p:cNvCxnSpPr/>
          <p:nvPr/>
        </p:nvCxnSpPr>
        <p:spPr>
          <a:xfrm>
            <a:off x="7754112" y="5010912"/>
            <a:ext cx="384048" cy="0"/>
          </a:xfrm>
          <a:prstGeom prst="line">
            <a:avLst/>
          </a:prstGeom>
          <a:ln w="25400">
            <a:solidFill>
              <a:srgbClr val="0EA5E9"/>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183879" y="4636008"/>
            <a:ext cx="2331720" cy="749808"/>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8293607" y="4828032"/>
            <a:ext cx="2103120" cy="369332"/>
          </a:xfrm>
          <a:prstGeom prst="rect">
            <a:avLst/>
          </a:prstGeom>
          <a:noFill/>
        </p:spPr>
        <p:txBody>
          <a:bodyPr wrap="square" anchor="t">
            <a:spAutoFit/>
          </a:bodyPr>
          <a:lstStyle/>
          <a:p>
            <a:pPr algn="ctr"/>
            <a:r>
              <a:rPr b="1">
                <a:solidFill>
                  <a:srgbClr val="182230"/>
                </a:solidFill>
                <a:latin typeface="Aptos"/>
              </a:rPr>
              <a:t>Reintegra stock</a:t>
            </a:r>
          </a:p>
        </p:txBody>
      </p:sp>
      <p:sp>
        <p:nvSpPr>
          <p:cNvPr id="34" name="TextBox 33"/>
          <p:cNvSpPr txBox="1"/>
          <p:nvPr/>
        </p:nvSpPr>
        <p:spPr>
          <a:xfrm>
            <a:off x="640080" y="6080760"/>
            <a:ext cx="10789920" cy="365760"/>
          </a:xfrm>
          <a:prstGeom prst="rect">
            <a:avLst/>
          </a:prstGeom>
          <a:noFill/>
        </p:spPr>
        <p:txBody>
          <a:bodyPr wrap="square" anchor="t">
            <a:spAutoFit/>
          </a:bodyPr>
          <a:lstStyle/>
          <a:p>
            <a:pPr algn="ctr"/>
            <a:r>
              <a:rPr sz="1300" b="0">
                <a:solidFill>
                  <a:srgbClr val="667085"/>
                </a:solidFill>
                <a:latin typeface="Aptos"/>
              </a:rPr>
              <a:t>Estas automatizaciones reducen la doble digitación y mantienen sincronizados los documentos relacionados.</a:t>
            </a:r>
          </a:p>
        </p:txBody>
      </p:sp>
      <p:sp>
        <p:nvSpPr>
          <p:cNvPr id="35" name="TextBox 34"/>
          <p:cNvSpPr txBox="1"/>
          <p:nvPr/>
        </p:nvSpPr>
        <p:spPr>
          <a:xfrm>
            <a:off x="640080" y="6519672"/>
            <a:ext cx="5029200" cy="164592"/>
          </a:xfrm>
          <a:prstGeom prst="rect">
            <a:avLst/>
          </a:prstGeom>
          <a:noFill/>
        </p:spPr>
        <p:txBody>
          <a:bodyPr wrap="square" anchor="t">
            <a:spAutoFit/>
          </a:bodyPr>
          <a:lstStyle/>
          <a:p>
            <a:pPr algn="l"/>
            <a:r>
              <a:rPr sz="800" b="1">
                <a:solidFill>
                  <a:srgbClr val="667085"/>
                </a:solidFill>
                <a:latin typeface="Aptos"/>
              </a:rPr>
              <a:t>NOVA TECH SOLUTIONS  •  BASE DE DATOS NOSQL</a:t>
            </a:r>
          </a:p>
        </p:txBody>
      </p:sp>
      <p:sp>
        <p:nvSpPr>
          <p:cNvPr id="36" name="TextBox 35"/>
          <p:cNvSpPr txBox="1"/>
          <p:nvPr/>
        </p:nvSpPr>
        <p:spPr>
          <a:xfrm>
            <a:off x="11155680" y="6492240"/>
            <a:ext cx="411480" cy="182880"/>
          </a:xfrm>
          <a:prstGeom prst="rect">
            <a:avLst/>
          </a:prstGeom>
          <a:noFill/>
        </p:spPr>
        <p:txBody>
          <a:bodyPr wrap="square" anchor="t">
            <a:spAutoFit/>
          </a:bodyPr>
          <a:lstStyle/>
          <a:p>
            <a:pPr algn="r"/>
            <a:r>
              <a:rPr sz="800" b="1">
                <a:solidFill>
                  <a:srgbClr val="667085"/>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4114800" cy="274320"/>
          </a:xfrm>
          <a:prstGeom prst="rect">
            <a:avLst/>
          </a:prstGeom>
          <a:noFill/>
        </p:spPr>
        <p:txBody>
          <a:bodyPr wrap="square" anchor="t">
            <a:spAutoFit/>
          </a:bodyPr>
          <a:lstStyle/>
          <a:p>
            <a:pPr algn="l"/>
            <a:r>
              <a:rPr sz="1000" b="1">
                <a:solidFill>
                  <a:srgbClr val="2563EB"/>
                </a:solidFill>
                <a:latin typeface="Aptos"/>
              </a:rPr>
              <a:t>06 · FUNCIONALIDAD</a:t>
            </a:r>
          </a:p>
        </p:txBody>
      </p:sp>
      <p:sp>
        <p:nvSpPr>
          <p:cNvPr id="3" name="TextBox 2"/>
          <p:cNvSpPr txBox="1"/>
          <p:nvPr/>
        </p:nvSpPr>
        <p:spPr>
          <a:xfrm>
            <a:off x="640080" y="749808"/>
            <a:ext cx="10789920" cy="548640"/>
          </a:xfrm>
          <a:prstGeom prst="rect">
            <a:avLst/>
          </a:prstGeom>
          <a:noFill/>
        </p:spPr>
        <p:txBody>
          <a:bodyPr wrap="square" anchor="t">
            <a:spAutoFit/>
          </a:bodyPr>
          <a:lstStyle/>
          <a:p>
            <a:pPr algn="l"/>
            <a:r>
              <a:rPr sz="2700" b="1">
                <a:solidFill>
                  <a:srgbClr val="182230"/>
                </a:solidFill>
                <a:latin typeface="Aptos"/>
              </a:rPr>
              <a:t>CRUD web + API</a:t>
            </a:r>
          </a:p>
        </p:txBody>
      </p:sp>
      <p:sp>
        <p:nvSpPr>
          <p:cNvPr id="4" name="Rounded Rectangle 3"/>
          <p:cNvSpPr/>
          <p:nvPr/>
        </p:nvSpPr>
        <p:spPr>
          <a:xfrm>
            <a:off x="685800" y="1828800"/>
            <a:ext cx="2514600" cy="324612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400" y="2084831"/>
            <a:ext cx="685800" cy="310896"/>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03120"/>
            <a:ext cx="685800" cy="201168"/>
          </a:xfrm>
          <a:prstGeom prst="rect">
            <a:avLst/>
          </a:prstGeom>
          <a:noFill/>
        </p:spPr>
        <p:txBody>
          <a:bodyPr wrap="square" anchor="t">
            <a:spAutoFit/>
          </a:bodyPr>
          <a:lstStyle/>
          <a:p>
            <a:pPr algn="ctr"/>
            <a:r>
              <a:rPr sz="900" b="1">
                <a:solidFill>
                  <a:srgbClr val="FFFFFF"/>
                </a:solidFill>
                <a:latin typeface="Aptos"/>
              </a:rPr>
              <a:t>POST</a:t>
            </a:r>
          </a:p>
        </p:txBody>
      </p:sp>
      <p:sp>
        <p:nvSpPr>
          <p:cNvPr id="7" name="TextBox 6"/>
          <p:cNvSpPr txBox="1"/>
          <p:nvPr/>
        </p:nvSpPr>
        <p:spPr>
          <a:xfrm>
            <a:off x="914400" y="2697480"/>
            <a:ext cx="2011680" cy="320040"/>
          </a:xfrm>
          <a:prstGeom prst="rect">
            <a:avLst/>
          </a:prstGeom>
          <a:noFill/>
        </p:spPr>
        <p:txBody>
          <a:bodyPr wrap="square" anchor="t">
            <a:spAutoFit/>
          </a:bodyPr>
          <a:lstStyle/>
          <a:p>
            <a:pPr algn="l"/>
            <a:r>
              <a:rPr sz="1800" b="1">
                <a:solidFill>
                  <a:srgbClr val="182230"/>
                </a:solidFill>
                <a:latin typeface="Aptos"/>
              </a:rPr>
              <a:t>CREATE</a:t>
            </a:r>
          </a:p>
        </p:txBody>
      </p:sp>
      <p:sp>
        <p:nvSpPr>
          <p:cNvPr id="8" name="TextBox 7"/>
          <p:cNvSpPr txBox="1"/>
          <p:nvPr/>
        </p:nvSpPr>
        <p:spPr>
          <a:xfrm>
            <a:off x="914400" y="3246120"/>
            <a:ext cx="1965960" cy="523220"/>
          </a:xfrm>
          <a:prstGeom prst="rect">
            <a:avLst/>
          </a:prstGeom>
          <a:noFill/>
        </p:spPr>
        <p:txBody>
          <a:bodyPr wrap="square" anchor="t">
            <a:spAutoFit/>
          </a:bodyPr>
          <a:lstStyle/>
          <a:p>
            <a:pPr algn="l"/>
            <a:r>
              <a:rPr sz="1400" b="0">
                <a:solidFill>
                  <a:srgbClr val="667085"/>
                </a:solidFill>
                <a:latin typeface="Aptos"/>
              </a:rPr>
              <a:t>Inserta nuevos documentos</a:t>
            </a:r>
          </a:p>
        </p:txBody>
      </p:sp>
      <p:sp>
        <p:nvSpPr>
          <p:cNvPr id="9" name="TextBox 8"/>
          <p:cNvSpPr txBox="1"/>
          <p:nvPr/>
        </p:nvSpPr>
        <p:spPr>
          <a:xfrm>
            <a:off x="914400" y="4434840"/>
            <a:ext cx="1965960" cy="261610"/>
          </a:xfrm>
          <a:prstGeom prst="rect">
            <a:avLst/>
          </a:prstGeom>
          <a:noFill/>
        </p:spPr>
        <p:txBody>
          <a:bodyPr wrap="square" anchor="t">
            <a:spAutoFit/>
          </a:bodyPr>
          <a:lstStyle/>
          <a:p>
            <a:pPr algn="l"/>
            <a:r>
              <a:rPr sz="1100" b="1">
                <a:solidFill>
                  <a:srgbClr val="10B981"/>
                </a:solidFill>
                <a:latin typeface="Aptos"/>
              </a:rPr>
              <a:t>Web + JSON API</a:t>
            </a:r>
          </a:p>
        </p:txBody>
      </p:sp>
      <p:sp>
        <p:nvSpPr>
          <p:cNvPr id="10" name="Rounded Rectangle 9"/>
          <p:cNvSpPr/>
          <p:nvPr/>
        </p:nvSpPr>
        <p:spPr>
          <a:xfrm>
            <a:off x="3538728" y="1828800"/>
            <a:ext cx="2514600" cy="324612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767328" y="2084831"/>
            <a:ext cx="685800" cy="310896"/>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67328" y="2103120"/>
            <a:ext cx="685800" cy="201168"/>
          </a:xfrm>
          <a:prstGeom prst="rect">
            <a:avLst/>
          </a:prstGeom>
          <a:noFill/>
        </p:spPr>
        <p:txBody>
          <a:bodyPr wrap="square" anchor="t">
            <a:spAutoFit/>
          </a:bodyPr>
          <a:lstStyle/>
          <a:p>
            <a:pPr algn="ctr"/>
            <a:r>
              <a:rPr sz="900" b="1">
                <a:solidFill>
                  <a:srgbClr val="FFFFFF"/>
                </a:solidFill>
                <a:latin typeface="Aptos"/>
              </a:rPr>
              <a:t>GET</a:t>
            </a:r>
          </a:p>
        </p:txBody>
      </p:sp>
      <p:sp>
        <p:nvSpPr>
          <p:cNvPr id="13" name="TextBox 12"/>
          <p:cNvSpPr txBox="1"/>
          <p:nvPr/>
        </p:nvSpPr>
        <p:spPr>
          <a:xfrm>
            <a:off x="3767328" y="2697480"/>
            <a:ext cx="2011680" cy="320040"/>
          </a:xfrm>
          <a:prstGeom prst="rect">
            <a:avLst/>
          </a:prstGeom>
          <a:noFill/>
        </p:spPr>
        <p:txBody>
          <a:bodyPr wrap="square" anchor="t">
            <a:spAutoFit/>
          </a:bodyPr>
          <a:lstStyle/>
          <a:p>
            <a:pPr algn="l"/>
            <a:r>
              <a:rPr sz="1800" b="1">
                <a:solidFill>
                  <a:srgbClr val="182230"/>
                </a:solidFill>
                <a:latin typeface="Aptos"/>
              </a:rPr>
              <a:t>READ</a:t>
            </a:r>
          </a:p>
        </p:txBody>
      </p:sp>
      <p:sp>
        <p:nvSpPr>
          <p:cNvPr id="14" name="TextBox 13"/>
          <p:cNvSpPr txBox="1"/>
          <p:nvPr/>
        </p:nvSpPr>
        <p:spPr>
          <a:xfrm>
            <a:off x="3767328" y="3246120"/>
            <a:ext cx="1965960" cy="523220"/>
          </a:xfrm>
          <a:prstGeom prst="rect">
            <a:avLst/>
          </a:prstGeom>
          <a:noFill/>
        </p:spPr>
        <p:txBody>
          <a:bodyPr wrap="square" anchor="t">
            <a:spAutoFit/>
          </a:bodyPr>
          <a:lstStyle/>
          <a:p>
            <a:pPr algn="l"/>
            <a:r>
              <a:rPr sz="1400" b="0">
                <a:solidFill>
                  <a:srgbClr val="667085"/>
                </a:solidFill>
                <a:latin typeface="Aptos"/>
              </a:rPr>
              <a:t>Consulta y busca registros</a:t>
            </a:r>
          </a:p>
        </p:txBody>
      </p:sp>
      <p:sp>
        <p:nvSpPr>
          <p:cNvPr id="15" name="TextBox 14"/>
          <p:cNvSpPr txBox="1"/>
          <p:nvPr/>
        </p:nvSpPr>
        <p:spPr>
          <a:xfrm>
            <a:off x="3767328" y="4434840"/>
            <a:ext cx="1965960" cy="261610"/>
          </a:xfrm>
          <a:prstGeom prst="rect">
            <a:avLst/>
          </a:prstGeom>
          <a:noFill/>
        </p:spPr>
        <p:txBody>
          <a:bodyPr wrap="square" anchor="t">
            <a:spAutoFit/>
          </a:bodyPr>
          <a:lstStyle/>
          <a:p>
            <a:pPr algn="l"/>
            <a:r>
              <a:rPr sz="1100" b="1">
                <a:solidFill>
                  <a:srgbClr val="0EA5E9"/>
                </a:solidFill>
                <a:latin typeface="Aptos"/>
              </a:rPr>
              <a:t>Web + JSON API</a:t>
            </a:r>
          </a:p>
        </p:txBody>
      </p:sp>
      <p:sp>
        <p:nvSpPr>
          <p:cNvPr id="16" name="Rounded Rectangle 15"/>
          <p:cNvSpPr/>
          <p:nvPr/>
        </p:nvSpPr>
        <p:spPr>
          <a:xfrm>
            <a:off x="6391656" y="1828800"/>
            <a:ext cx="2514600" cy="324612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620256" y="2084831"/>
            <a:ext cx="685800" cy="310896"/>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20256" y="2103120"/>
            <a:ext cx="685800" cy="201168"/>
          </a:xfrm>
          <a:prstGeom prst="rect">
            <a:avLst/>
          </a:prstGeom>
          <a:noFill/>
        </p:spPr>
        <p:txBody>
          <a:bodyPr wrap="square" anchor="t">
            <a:spAutoFit/>
          </a:bodyPr>
          <a:lstStyle/>
          <a:p>
            <a:pPr algn="ctr"/>
            <a:r>
              <a:rPr sz="900" b="1">
                <a:solidFill>
                  <a:srgbClr val="FFFFFF"/>
                </a:solidFill>
                <a:latin typeface="Aptos"/>
              </a:rPr>
              <a:t>PUT</a:t>
            </a:r>
          </a:p>
        </p:txBody>
      </p:sp>
      <p:sp>
        <p:nvSpPr>
          <p:cNvPr id="19" name="TextBox 18"/>
          <p:cNvSpPr txBox="1"/>
          <p:nvPr/>
        </p:nvSpPr>
        <p:spPr>
          <a:xfrm>
            <a:off x="6620256" y="2697480"/>
            <a:ext cx="2011680" cy="320040"/>
          </a:xfrm>
          <a:prstGeom prst="rect">
            <a:avLst/>
          </a:prstGeom>
          <a:noFill/>
        </p:spPr>
        <p:txBody>
          <a:bodyPr wrap="square" anchor="t">
            <a:spAutoFit/>
          </a:bodyPr>
          <a:lstStyle/>
          <a:p>
            <a:pPr algn="l"/>
            <a:r>
              <a:rPr sz="1800" b="1">
                <a:solidFill>
                  <a:srgbClr val="182230"/>
                </a:solidFill>
                <a:latin typeface="Aptos"/>
              </a:rPr>
              <a:t>UPDATE</a:t>
            </a:r>
          </a:p>
        </p:txBody>
      </p:sp>
      <p:sp>
        <p:nvSpPr>
          <p:cNvPr id="20" name="TextBox 19"/>
          <p:cNvSpPr txBox="1"/>
          <p:nvPr/>
        </p:nvSpPr>
        <p:spPr>
          <a:xfrm>
            <a:off x="6620256" y="3246120"/>
            <a:ext cx="1965960" cy="523220"/>
          </a:xfrm>
          <a:prstGeom prst="rect">
            <a:avLst/>
          </a:prstGeom>
          <a:noFill/>
        </p:spPr>
        <p:txBody>
          <a:bodyPr wrap="square" anchor="t">
            <a:spAutoFit/>
          </a:bodyPr>
          <a:lstStyle/>
          <a:p>
            <a:pPr algn="l"/>
            <a:r>
              <a:rPr sz="1400" b="0">
                <a:solidFill>
                  <a:srgbClr val="667085"/>
                </a:solidFill>
                <a:latin typeface="Aptos"/>
              </a:rPr>
              <a:t>Modifica documentos existentes</a:t>
            </a:r>
          </a:p>
        </p:txBody>
      </p:sp>
      <p:sp>
        <p:nvSpPr>
          <p:cNvPr id="21" name="TextBox 20"/>
          <p:cNvSpPr txBox="1"/>
          <p:nvPr/>
        </p:nvSpPr>
        <p:spPr>
          <a:xfrm>
            <a:off x="6620256" y="4434840"/>
            <a:ext cx="1965960" cy="261610"/>
          </a:xfrm>
          <a:prstGeom prst="rect">
            <a:avLst/>
          </a:prstGeom>
          <a:noFill/>
        </p:spPr>
        <p:txBody>
          <a:bodyPr wrap="square" anchor="t">
            <a:spAutoFit/>
          </a:bodyPr>
          <a:lstStyle/>
          <a:p>
            <a:pPr algn="l"/>
            <a:r>
              <a:rPr sz="1100" b="1">
                <a:solidFill>
                  <a:srgbClr val="2563EB"/>
                </a:solidFill>
                <a:latin typeface="Aptos"/>
              </a:rPr>
              <a:t>Web + JSON API</a:t>
            </a:r>
          </a:p>
        </p:txBody>
      </p:sp>
      <p:sp>
        <p:nvSpPr>
          <p:cNvPr id="22" name="Rounded Rectangle 21"/>
          <p:cNvSpPr/>
          <p:nvPr/>
        </p:nvSpPr>
        <p:spPr>
          <a:xfrm>
            <a:off x="9244584" y="1828800"/>
            <a:ext cx="2514600" cy="324612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473184" y="2084831"/>
            <a:ext cx="685800" cy="310896"/>
          </a:xfrm>
          <a:prstGeom prst="round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73184" y="2103120"/>
            <a:ext cx="685800" cy="201168"/>
          </a:xfrm>
          <a:prstGeom prst="rect">
            <a:avLst/>
          </a:prstGeom>
          <a:noFill/>
        </p:spPr>
        <p:txBody>
          <a:bodyPr wrap="square" anchor="t">
            <a:spAutoFit/>
          </a:bodyPr>
          <a:lstStyle/>
          <a:p>
            <a:pPr algn="ctr"/>
            <a:r>
              <a:rPr sz="900" b="1">
                <a:solidFill>
                  <a:srgbClr val="FFFFFF"/>
                </a:solidFill>
                <a:latin typeface="Aptos"/>
              </a:rPr>
              <a:t>DELETE</a:t>
            </a:r>
          </a:p>
        </p:txBody>
      </p:sp>
      <p:sp>
        <p:nvSpPr>
          <p:cNvPr id="25" name="TextBox 24"/>
          <p:cNvSpPr txBox="1"/>
          <p:nvPr/>
        </p:nvSpPr>
        <p:spPr>
          <a:xfrm>
            <a:off x="9473184" y="2697480"/>
            <a:ext cx="2011680" cy="320040"/>
          </a:xfrm>
          <a:prstGeom prst="rect">
            <a:avLst/>
          </a:prstGeom>
          <a:noFill/>
        </p:spPr>
        <p:txBody>
          <a:bodyPr wrap="square" anchor="t">
            <a:spAutoFit/>
          </a:bodyPr>
          <a:lstStyle/>
          <a:p>
            <a:pPr algn="l"/>
            <a:r>
              <a:rPr sz="1800" b="1">
                <a:solidFill>
                  <a:srgbClr val="182230"/>
                </a:solidFill>
                <a:latin typeface="Aptos"/>
              </a:rPr>
              <a:t>DELETE</a:t>
            </a:r>
          </a:p>
        </p:txBody>
      </p:sp>
      <p:sp>
        <p:nvSpPr>
          <p:cNvPr id="26" name="TextBox 25"/>
          <p:cNvSpPr txBox="1"/>
          <p:nvPr/>
        </p:nvSpPr>
        <p:spPr>
          <a:xfrm>
            <a:off x="9473184" y="3246120"/>
            <a:ext cx="1965960" cy="523220"/>
          </a:xfrm>
          <a:prstGeom prst="rect">
            <a:avLst/>
          </a:prstGeom>
          <a:noFill/>
        </p:spPr>
        <p:txBody>
          <a:bodyPr wrap="square" anchor="t">
            <a:spAutoFit/>
          </a:bodyPr>
          <a:lstStyle/>
          <a:p>
            <a:pPr algn="l"/>
            <a:r>
              <a:rPr sz="1400" b="0">
                <a:solidFill>
                  <a:srgbClr val="667085"/>
                </a:solidFill>
                <a:latin typeface="Aptos"/>
              </a:rPr>
              <a:t>Elimina cuando la integridad lo permite</a:t>
            </a:r>
          </a:p>
        </p:txBody>
      </p:sp>
      <p:sp>
        <p:nvSpPr>
          <p:cNvPr id="27" name="TextBox 26"/>
          <p:cNvSpPr txBox="1"/>
          <p:nvPr/>
        </p:nvSpPr>
        <p:spPr>
          <a:xfrm>
            <a:off x="9473184" y="4434840"/>
            <a:ext cx="1965960" cy="261610"/>
          </a:xfrm>
          <a:prstGeom prst="rect">
            <a:avLst/>
          </a:prstGeom>
          <a:noFill/>
        </p:spPr>
        <p:txBody>
          <a:bodyPr wrap="square" anchor="t">
            <a:spAutoFit/>
          </a:bodyPr>
          <a:lstStyle/>
          <a:p>
            <a:pPr algn="l"/>
            <a:r>
              <a:rPr sz="1100" b="1">
                <a:solidFill>
                  <a:srgbClr val="EF4444"/>
                </a:solidFill>
                <a:latin typeface="Aptos"/>
              </a:rPr>
              <a:t>Web + JSON API</a:t>
            </a:r>
          </a:p>
        </p:txBody>
      </p:sp>
      <p:sp>
        <p:nvSpPr>
          <p:cNvPr id="28" name="TextBox 27"/>
          <p:cNvSpPr txBox="1"/>
          <p:nvPr/>
        </p:nvSpPr>
        <p:spPr>
          <a:xfrm>
            <a:off x="685800" y="5532120"/>
            <a:ext cx="10698480" cy="457200"/>
          </a:xfrm>
          <a:prstGeom prst="rect">
            <a:avLst/>
          </a:prstGeom>
          <a:noFill/>
        </p:spPr>
        <p:txBody>
          <a:bodyPr wrap="square" anchor="t">
            <a:spAutoFit/>
          </a:bodyPr>
          <a:lstStyle/>
          <a:p>
            <a:pPr algn="ctr"/>
            <a:r>
              <a:rPr sz="1300" b="1">
                <a:solidFill>
                  <a:srgbClr val="182230"/>
                </a:solidFill>
                <a:latin typeface="Aptos"/>
              </a:rPr>
              <a:t>Las rutas se prueban también con Postman; los módulos transaccionales respetan las reglas de stock.</a:t>
            </a:r>
          </a:p>
        </p:txBody>
      </p:sp>
      <p:sp>
        <p:nvSpPr>
          <p:cNvPr id="29" name="TextBox 28"/>
          <p:cNvSpPr txBox="1"/>
          <p:nvPr/>
        </p:nvSpPr>
        <p:spPr>
          <a:xfrm>
            <a:off x="640080" y="6519672"/>
            <a:ext cx="5029200" cy="164592"/>
          </a:xfrm>
          <a:prstGeom prst="rect">
            <a:avLst/>
          </a:prstGeom>
          <a:noFill/>
        </p:spPr>
        <p:txBody>
          <a:bodyPr wrap="square" anchor="t">
            <a:spAutoFit/>
          </a:bodyPr>
          <a:lstStyle/>
          <a:p>
            <a:pPr algn="l"/>
            <a:r>
              <a:rPr sz="800" b="1">
                <a:solidFill>
                  <a:srgbClr val="667085"/>
                </a:solidFill>
                <a:latin typeface="Aptos"/>
              </a:rPr>
              <a:t>NOVA TECH SOLUTIONS  •  BASE DE DATOS NOSQL</a:t>
            </a:r>
          </a:p>
        </p:txBody>
      </p:sp>
      <p:sp>
        <p:nvSpPr>
          <p:cNvPr id="30" name="TextBox 29"/>
          <p:cNvSpPr txBox="1"/>
          <p:nvPr/>
        </p:nvSpPr>
        <p:spPr>
          <a:xfrm>
            <a:off x="11155680" y="6492240"/>
            <a:ext cx="411480" cy="182880"/>
          </a:xfrm>
          <a:prstGeom prst="rect">
            <a:avLst/>
          </a:prstGeom>
          <a:noFill/>
        </p:spPr>
        <p:txBody>
          <a:bodyPr wrap="square" anchor="t">
            <a:spAutoFit/>
          </a:bodyPr>
          <a:lstStyle/>
          <a:p>
            <a:pPr algn="r"/>
            <a:r>
              <a:rPr sz="800" b="1">
                <a:solidFill>
                  <a:srgbClr val="667085"/>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4114800" cy="274320"/>
          </a:xfrm>
          <a:prstGeom prst="rect">
            <a:avLst/>
          </a:prstGeom>
          <a:noFill/>
        </p:spPr>
        <p:txBody>
          <a:bodyPr wrap="square" anchor="t">
            <a:spAutoFit/>
          </a:bodyPr>
          <a:lstStyle/>
          <a:p>
            <a:pPr algn="l"/>
            <a:r>
              <a:rPr sz="1000" b="1">
                <a:solidFill>
                  <a:srgbClr val="2563EB"/>
                </a:solidFill>
                <a:latin typeface="Aptos"/>
              </a:rPr>
              <a:t>07 · CALIDAD</a:t>
            </a:r>
          </a:p>
        </p:txBody>
      </p:sp>
      <p:sp>
        <p:nvSpPr>
          <p:cNvPr id="3" name="TextBox 2"/>
          <p:cNvSpPr txBox="1"/>
          <p:nvPr/>
        </p:nvSpPr>
        <p:spPr>
          <a:xfrm>
            <a:off x="640080" y="749808"/>
            <a:ext cx="10789920" cy="548640"/>
          </a:xfrm>
          <a:prstGeom prst="rect">
            <a:avLst/>
          </a:prstGeom>
          <a:noFill/>
        </p:spPr>
        <p:txBody>
          <a:bodyPr wrap="square" anchor="t">
            <a:spAutoFit/>
          </a:bodyPr>
          <a:lstStyle/>
          <a:p>
            <a:pPr algn="l"/>
            <a:r>
              <a:rPr sz="2700" b="1">
                <a:solidFill>
                  <a:srgbClr val="182230"/>
                </a:solidFill>
                <a:latin typeface="Aptos"/>
              </a:rPr>
              <a:t>Integridad, validaciones e indexación</a:t>
            </a:r>
          </a:p>
        </p:txBody>
      </p:sp>
      <p:sp>
        <p:nvSpPr>
          <p:cNvPr id="4" name="Rounded Rectangle 3"/>
          <p:cNvSpPr/>
          <p:nvPr/>
        </p:nvSpPr>
        <p:spPr>
          <a:xfrm>
            <a:off x="685800" y="1691640"/>
            <a:ext cx="5166360" cy="114300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50392" y="1874520"/>
            <a:ext cx="73152" cy="7772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920240"/>
            <a:ext cx="4636008" cy="320040"/>
          </a:xfrm>
          <a:prstGeom prst="rect">
            <a:avLst/>
          </a:prstGeom>
          <a:noFill/>
        </p:spPr>
        <p:txBody>
          <a:bodyPr wrap="square" anchor="t">
            <a:spAutoFit/>
          </a:bodyPr>
          <a:lstStyle/>
          <a:p>
            <a:pPr algn="l"/>
            <a:r>
              <a:rPr sz="1400" b="1">
                <a:solidFill>
                  <a:srgbClr val="182230"/>
                </a:solidFill>
                <a:latin typeface="Aptos"/>
              </a:rPr>
              <a:t>Validación de stock</a:t>
            </a:r>
          </a:p>
        </p:txBody>
      </p:sp>
      <p:sp>
        <p:nvSpPr>
          <p:cNvPr id="7" name="TextBox 6"/>
          <p:cNvSpPr txBox="1"/>
          <p:nvPr/>
        </p:nvSpPr>
        <p:spPr>
          <a:xfrm>
            <a:off x="1051560" y="2350008"/>
            <a:ext cx="4636008" cy="276999"/>
          </a:xfrm>
          <a:prstGeom prst="rect">
            <a:avLst/>
          </a:prstGeom>
          <a:noFill/>
        </p:spPr>
        <p:txBody>
          <a:bodyPr wrap="square" anchor="t">
            <a:spAutoFit/>
          </a:bodyPr>
          <a:lstStyle/>
          <a:p>
            <a:pPr algn="l"/>
            <a:r>
              <a:rPr sz="1200" b="0">
                <a:solidFill>
                  <a:srgbClr val="667085"/>
                </a:solidFill>
                <a:latin typeface="Aptos"/>
              </a:rPr>
              <a:t>Impide vender más unidades que las disponibles.</a:t>
            </a:r>
          </a:p>
        </p:txBody>
      </p:sp>
      <p:sp>
        <p:nvSpPr>
          <p:cNvPr id="8" name="Rounded Rectangle 7"/>
          <p:cNvSpPr/>
          <p:nvPr/>
        </p:nvSpPr>
        <p:spPr>
          <a:xfrm>
            <a:off x="6217920" y="1691640"/>
            <a:ext cx="5166360" cy="114300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82512" y="1874520"/>
            <a:ext cx="73152" cy="77724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920240"/>
            <a:ext cx="4636008" cy="320040"/>
          </a:xfrm>
          <a:prstGeom prst="rect">
            <a:avLst/>
          </a:prstGeom>
          <a:noFill/>
        </p:spPr>
        <p:txBody>
          <a:bodyPr wrap="square" anchor="t">
            <a:spAutoFit/>
          </a:bodyPr>
          <a:lstStyle/>
          <a:p>
            <a:pPr algn="l"/>
            <a:r>
              <a:rPr sz="1400" b="1">
                <a:solidFill>
                  <a:srgbClr val="182230"/>
                </a:solidFill>
                <a:latin typeface="Aptos"/>
              </a:rPr>
              <a:t>Índices únicos y de texto</a:t>
            </a:r>
          </a:p>
        </p:txBody>
      </p:sp>
      <p:sp>
        <p:nvSpPr>
          <p:cNvPr id="11" name="TextBox 10"/>
          <p:cNvSpPr txBox="1"/>
          <p:nvPr/>
        </p:nvSpPr>
        <p:spPr>
          <a:xfrm>
            <a:off x="6583680" y="2350008"/>
            <a:ext cx="4636008" cy="276999"/>
          </a:xfrm>
          <a:prstGeom prst="rect">
            <a:avLst/>
          </a:prstGeom>
          <a:noFill/>
        </p:spPr>
        <p:txBody>
          <a:bodyPr wrap="square" anchor="t">
            <a:spAutoFit/>
          </a:bodyPr>
          <a:lstStyle/>
          <a:p>
            <a:pPr algn="l"/>
            <a:r>
              <a:rPr sz="1200" b="0">
                <a:solidFill>
                  <a:srgbClr val="667085"/>
                </a:solidFill>
                <a:latin typeface="Aptos"/>
              </a:rPr>
              <a:t>Apoyan búsquedas y evitan duplicados en campos clave.</a:t>
            </a:r>
          </a:p>
        </p:txBody>
      </p:sp>
      <p:sp>
        <p:nvSpPr>
          <p:cNvPr id="12" name="Rounded Rectangle 11"/>
          <p:cNvSpPr/>
          <p:nvPr/>
        </p:nvSpPr>
        <p:spPr>
          <a:xfrm>
            <a:off x="685800" y="3108960"/>
            <a:ext cx="5166360" cy="114300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50392" y="3291840"/>
            <a:ext cx="73152" cy="77724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337560"/>
            <a:ext cx="4636008" cy="320040"/>
          </a:xfrm>
          <a:prstGeom prst="rect">
            <a:avLst/>
          </a:prstGeom>
          <a:noFill/>
        </p:spPr>
        <p:txBody>
          <a:bodyPr wrap="square" anchor="t">
            <a:spAutoFit/>
          </a:bodyPr>
          <a:lstStyle/>
          <a:p>
            <a:pPr algn="l"/>
            <a:r>
              <a:rPr sz="1400" b="1">
                <a:solidFill>
                  <a:srgbClr val="182230"/>
                </a:solidFill>
                <a:latin typeface="Aptos"/>
              </a:rPr>
              <a:t>Eliminaciones protegidas</a:t>
            </a:r>
          </a:p>
        </p:txBody>
      </p:sp>
      <p:sp>
        <p:nvSpPr>
          <p:cNvPr id="15" name="TextBox 14"/>
          <p:cNvSpPr txBox="1"/>
          <p:nvPr/>
        </p:nvSpPr>
        <p:spPr>
          <a:xfrm>
            <a:off x="1051560" y="3719200"/>
            <a:ext cx="4636008" cy="276999"/>
          </a:xfrm>
          <a:prstGeom prst="rect">
            <a:avLst/>
          </a:prstGeom>
          <a:noFill/>
        </p:spPr>
        <p:txBody>
          <a:bodyPr wrap="square" anchor="t">
            <a:spAutoFit/>
          </a:bodyPr>
          <a:lstStyle/>
          <a:p>
            <a:pPr algn="l"/>
            <a:r>
              <a:rPr sz="1200" b="0">
                <a:solidFill>
                  <a:srgbClr val="667085"/>
                </a:solidFill>
                <a:latin typeface="Aptos"/>
              </a:rPr>
              <a:t>Evitan borrar catálogos o transacciones con dependencias.</a:t>
            </a:r>
          </a:p>
        </p:txBody>
      </p:sp>
      <p:sp>
        <p:nvSpPr>
          <p:cNvPr id="16" name="Rounded Rectangle 15"/>
          <p:cNvSpPr/>
          <p:nvPr/>
        </p:nvSpPr>
        <p:spPr>
          <a:xfrm>
            <a:off x="6217920" y="3108960"/>
            <a:ext cx="5166360" cy="114300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82512" y="3291840"/>
            <a:ext cx="73152"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0" y="3337560"/>
            <a:ext cx="4636008" cy="320040"/>
          </a:xfrm>
          <a:prstGeom prst="rect">
            <a:avLst/>
          </a:prstGeom>
          <a:noFill/>
        </p:spPr>
        <p:txBody>
          <a:bodyPr wrap="square" anchor="t">
            <a:spAutoFit/>
          </a:bodyPr>
          <a:lstStyle/>
          <a:p>
            <a:pPr algn="l"/>
            <a:r>
              <a:rPr sz="1400" b="1">
                <a:solidFill>
                  <a:srgbClr val="182230"/>
                </a:solidFill>
                <a:latin typeface="Aptos"/>
              </a:rPr>
              <a:t>Rollback compensatorio</a:t>
            </a:r>
          </a:p>
        </p:txBody>
      </p:sp>
      <p:sp>
        <p:nvSpPr>
          <p:cNvPr id="19" name="TextBox 18"/>
          <p:cNvSpPr txBox="1"/>
          <p:nvPr/>
        </p:nvSpPr>
        <p:spPr>
          <a:xfrm>
            <a:off x="6583680" y="3719200"/>
            <a:ext cx="4636008" cy="461665"/>
          </a:xfrm>
          <a:prstGeom prst="rect">
            <a:avLst/>
          </a:prstGeom>
          <a:noFill/>
        </p:spPr>
        <p:txBody>
          <a:bodyPr wrap="square" anchor="t">
            <a:spAutoFit/>
          </a:bodyPr>
          <a:lstStyle/>
          <a:p>
            <a:pPr algn="l"/>
            <a:r>
              <a:rPr sz="1200" b="0">
                <a:solidFill>
                  <a:srgbClr val="667085"/>
                </a:solidFill>
                <a:latin typeface="Aptos"/>
              </a:rPr>
              <a:t>Intenta restaurar el estado anterior si falla una operación compuesta.</a:t>
            </a:r>
          </a:p>
        </p:txBody>
      </p:sp>
      <p:sp>
        <p:nvSpPr>
          <p:cNvPr id="20" name="Rounded Rectangle 19"/>
          <p:cNvSpPr/>
          <p:nvPr/>
        </p:nvSpPr>
        <p:spPr>
          <a:xfrm>
            <a:off x="685800" y="4526280"/>
            <a:ext cx="5166360" cy="114300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50392" y="4709160"/>
            <a:ext cx="73152" cy="7772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4754880"/>
            <a:ext cx="4636008" cy="320040"/>
          </a:xfrm>
          <a:prstGeom prst="rect">
            <a:avLst/>
          </a:prstGeom>
          <a:noFill/>
        </p:spPr>
        <p:txBody>
          <a:bodyPr wrap="square" anchor="t">
            <a:spAutoFit/>
          </a:bodyPr>
          <a:lstStyle/>
          <a:p>
            <a:pPr algn="l"/>
            <a:r>
              <a:rPr sz="1400" b="1">
                <a:solidFill>
                  <a:srgbClr val="182230"/>
                </a:solidFill>
                <a:latin typeface="Aptos"/>
              </a:rPr>
              <a:t>Snapshots históricos</a:t>
            </a:r>
          </a:p>
        </p:txBody>
      </p:sp>
      <p:sp>
        <p:nvSpPr>
          <p:cNvPr id="23" name="TextBox 22"/>
          <p:cNvSpPr txBox="1"/>
          <p:nvPr/>
        </p:nvSpPr>
        <p:spPr>
          <a:xfrm>
            <a:off x="1051560" y="5136520"/>
            <a:ext cx="4636008" cy="461665"/>
          </a:xfrm>
          <a:prstGeom prst="rect">
            <a:avLst/>
          </a:prstGeom>
          <a:noFill/>
        </p:spPr>
        <p:txBody>
          <a:bodyPr wrap="square" anchor="t">
            <a:spAutoFit/>
          </a:bodyPr>
          <a:lstStyle/>
          <a:p>
            <a:pPr algn="l"/>
            <a:r>
              <a:rPr sz="1200" b="0">
                <a:solidFill>
                  <a:srgbClr val="667085"/>
                </a:solidFill>
                <a:latin typeface="Aptos"/>
              </a:rPr>
              <a:t>Conservan datos legibles aun cuando cambien catálogos relacionados.</a:t>
            </a:r>
          </a:p>
        </p:txBody>
      </p:sp>
      <p:sp>
        <p:nvSpPr>
          <p:cNvPr id="24" name="Rounded Rectangle 23"/>
          <p:cNvSpPr/>
          <p:nvPr/>
        </p:nvSpPr>
        <p:spPr>
          <a:xfrm>
            <a:off x="6217920" y="4526280"/>
            <a:ext cx="5166360" cy="114300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382512" y="4709160"/>
            <a:ext cx="73152" cy="77724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0" y="4754880"/>
            <a:ext cx="4636008" cy="320040"/>
          </a:xfrm>
          <a:prstGeom prst="rect">
            <a:avLst/>
          </a:prstGeom>
          <a:noFill/>
        </p:spPr>
        <p:txBody>
          <a:bodyPr wrap="square" anchor="t">
            <a:spAutoFit/>
          </a:bodyPr>
          <a:lstStyle/>
          <a:p>
            <a:pPr algn="l"/>
            <a:r>
              <a:rPr sz="1400" b="1">
                <a:solidFill>
                  <a:srgbClr val="182230"/>
                </a:solidFill>
                <a:latin typeface="Aptos"/>
              </a:rPr>
              <a:t>Verificación automática</a:t>
            </a:r>
          </a:p>
        </p:txBody>
      </p:sp>
      <p:sp>
        <p:nvSpPr>
          <p:cNvPr id="27" name="TextBox 26"/>
          <p:cNvSpPr txBox="1"/>
          <p:nvPr/>
        </p:nvSpPr>
        <p:spPr>
          <a:xfrm>
            <a:off x="6583680" y="5136520"/>
            <a:ext cx="4636008" cy="276999"/>
          </a:xfrm>
          <a:prstGeom prst="rect">
            <a:avLst/>
          </a:prstGeom>
          <a:noFill/>
        </p:spPr>
        <p:txBody>
          <a:bodyPr wrap="square" anchor="t">
            <a:spAutoFit/>
          </a:bodyPr>
          <a:lstStyle/>
          <a:p>
            <a:pPr algn="l"/>
            <a:r>
              <a:rPr sz="1200" b="0">
                <a:solidFill>
                  <a:srgbClr val="667085"/>
                </a:solidFill>
                <a:latin typeface="Aptos"/>
              </a:rPr>
              <a:t>npm run check y npm run verify apoyan la revisión técnica.</a:t>
            </a:r>
          </a:p>
        </p:txBody>
      </p:sp>
      <p:sp>
        <p:nvSpPr>
          <p:cNvPr id="28" name="TextBox 27"/>
          <p:cNvSpPr txBox="1"/>
          <p:nvPr/>
        </p:nvSpPr>
        <p:spPr>
          <a:xfrm>
            <a:off x="640080" y="6519672"/>
            <a:ext cx="5029200" cy="164592"/>
          </a:xfrm>
          <a:prstGeom prst="rect">
            <a:avLst/>
          </a:prstGeom>
          <a:noFill/>
        </p:spPr>
        <p:txBody>
          <a:bodyPr wrap="square" anchor="t">
            <a:spAutoFit/>
          </a:bodyPr>
          <a:lstStyle/>
          <a:p>
            <a:pPr algn="l"/>
            <a:r>
              <a:rPr sz="800" b="1">
                <a:solidFill>
                  <a:srgbClr val="667085"/>
                </a:solidFill>
                <a:latin typeface="Aptos"/>
              </a:rPr>
              <a:t>NOVA TECH SOLUTIONS  •  BASE DE DATOS NOSQL</a:t>
            </a:r>
          </a:p>
        </p:txBody>
      </p:sp>
      <p:sp>
        <p:nvSpPr>
          <p:cNvPr id="29" name="TextBox 28"/>
          <p:cNvSpPr txBox="1"/>
          <p:nvPr/>
        </p:nvSpPr>
        <p:spPr>
          <a:xfrm>
            <a:off x="11155680" y="6492240"/>
            <a:ext cx="411480" cy="182880"/>
          </a:xfrm>
          <a:prstGeom prst="rect">
            <a:avLst/>
          </a:prstGeom>
          <a:noFill/>
        </p:spPr>
        <p:txBody>
          <a:bodyPr wrap="square" anchor="t">
            <a:spAutoFit/>
          </a:bodyPr>
          <a:lstStyle/>
          <a:p>
            <a:pPr algn="r"/>
            <a:r>
              <a:rPr sz="800" b="1">
                <a:solidFill>
                  <a:srgbClr val="667085"/>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4114800" cy="246221"/>
          </a:xfrm>
          <a:prstGeom prst="rect">
            <a:avLst/>
          </a:prstGeom>
          <a:noFill/>
        </p:spPr>
        <p:txBody>
          <a:bodyPr wrap="square" anchor="t">
            <a:spAutoFit/>
          </a:bodyPr>
          <a:lstStyle/>
          <a:p>
            <a:pPr algn="l"/>
            <a:r>
              <a:rPr lang="es-CR" sz="1000" b="1" dirty="0">
                <a:solidFill>
                  <a:srgbClr val="2563EB"/>
                </a:solidFill>
                <a:latin typeface="Aptos"/>
              </a:rPr>
              <a:t>08</a:t>
            </a:r>
            <a:r>
              <a:rPr sz="1000" b="1" dirty="0">
                <a:solidFill>
                  <a:srgbClr val="2563EB"/>
                </a:solidFill>
                <a:latin typeface="Aptos"/>
              </a:rPr>
              <a:t> · ALCANCE</a:t>
            </a:r>
          </a:p>
        </p:txBody>
      </p:sp>
      <p:sp>
        <p:nvSpPr>
          <p:cNvPr id="3" name="TextBox 2"/>
          <p:cNvSpPr txBox="1"/>
          <p:nvPr/>
        </p:nvSpPr>
        <p:spPr>
          <a:xfrm>
            <a:off x="640080" y="749808"/>
            <a:ext cx="10789920" cy="548640"/>
          </a:xfrm>
          <a:prstGeom prst="rect">
            <a:avLst/>
          </a:prstGeom>
          <a:noFill/>
        </p:spPr>
        <p:txBody>
          <a:bodyPr wrap="square" anchor="t">
            <a:spAutoFit/>
          </a:bodyPr>
          <a:lstStyle/>
          <a:p>
            <a:pPr algn="l"/>
            <a:r>
              <a:rPr sz="2700" b="1">
                <a:solidFill>
                  <a:srgbClr val="182230"/>
                </a:solidFill>
                <a:latin typeface="Aptos"/>
              </a:rPr>
              <a:t>Qué demuestra la versión actual y cómo puede crecer</a:t>
            </a:r>
          </a:p>
        </p:txBody>
      </p:sp>
      <p:sp>
        <p:nvSpPr>
          <p:cNvPr id="4" name="Rounded Rectangle 3"/>
          <p:cNvSpPr/>
          <p:nvPr/>
        </p:nvSpPr>
        <p:spPr>
          <a:xfrm>
            <a:off x="685800" y="1691640"/>
            <a:ext cx="5257800" cy="425196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TextBox 4"/>
          <p:cNvSpPr txBox="1"/>
          <p:nvPr/>
        </p:nvSpPr>
        <p:spPr>
          <a:xfrm>
            <a:off x="960120" y="1965960"/>
            <a:ext cx="1828800" cy="707886"/>
          </a:xfrm>
          <a:prstGeom prst="rect">
            <a:avLst/>
          </a:prstGeom>
          <a:noFill/>
        </p:spPr>
        <p:txBody>
          <a:bodyPr wrap="square" anchor="t">
            <a:spAutoFit/>
          </a:bodyPr>
          <a:lstStyle/>
          <a:p>
            <a:pPr algn="l"/>
            <a:r>
              <a:rPr sz="2000" b="1" dirty="0">
                <a:solidFill>
                  <a:srgbClr val="2563EB"/>
                </a:solidFill>
                <a:latin typeface="Aptos"/>
              </a:rPr>
              <a:t>VERSIÓN ACTUAL</a:t>
            </a:r>
          </a:p>
        </p:txBody>
      </p:sp>
      <p:sp>
        <p:nvSpPr>
          <p:cNvPr id="6" name="TextBox 5"/>
          <p:cNvSpPr txBox="1"/>
          <p:nvPr/>
        </p:nvSpPr>
        <p:spPr>
          <a:xfrm>
            <a:off x="960120" y="2767269"/>
            <a:ext cx="4526280" cy="1682512"/>
          </a:xfrm>
          <a:prstGeom prst="rect">
            <a:avLst/>
          </a:prstGeom>
          <a:noFill/>
        </p:spPr>
        <p:txBody>
          <a:bodyPr wrap="square">
            <a:spAutoFit/>
          </a:bodyPr>
          <a:lstStyle/>
          <a:p>
            <a:pPr>
              <a:spcAft>
                <a:spcPts val="1000"/>
              </a:spcAft>
              <a:defRPr sz="1400">
                <a:solidFill>
                  <a:srgbClr val="182230"/>
                </a:solidFill>
                <a:latin typeface="Aptos"/>
              </a:defRPr>
            </a:pPr>
            <a:r>
              <a:rPr sz="1400" dirty="0"/>
              <a:t>• 12 </a:t>
            </a:r>
            <a:r>
              <a:rPr sz="1400" dirty="0" err="1"/>
              <a:t>módulos</a:t>
            </a:r>
            <a:r>
              <a:rPr sz="1400" dirty="0"/>
              <a:t> con CRUD web</a:t>
            </a:r>
          </a:p>
          <a:p>
            <a:pPr>
              <a:spcAft>
                <a:spcPts val="1000"/>
              </a:spcAft>
              <a:defRPr sz="1400">
                <a:solidFill>
                  <a:srgbClr val="182230"/>
                </a:solidFill>
                <a:latin typeface="Aptos"/>
              </a:defRPr>
            </a:pPr>
            <a:r>
              <a:rPr sz="1400" dirty="0"/>
              <a:t>• </a:t>
            </a:r>
            <a:r>
              <a:rPr sz="1400" dirty="0" err="1"/>
              <a:t>Integración</a:t>
            </a:r>
            <a:r>
              <a:rPr sz="1400" dirty="0"/>
              <a:t> </a:t>
            </a:r>
            <a:r>
              <a:rPr sz="1400" dirty="0" err="1"/>
              <a:t>compra</a:t>
            </a:r>
            <a:r>
              <a:rPr sz="1400" dirty="0"/>
              <a:t>–</a:t>
            </a:r>
            <a:r>
              <a:rPr sz="1400" dirty="0" err="1"/>
              <a:t>venta</a:t>
            </a:r>
            <a:r>
              <a:rPr sz="1400" dirty="0"/>
              <a:t>–</a:t>
            </a:r>
            <a:r>
              <a:rPr sz="1400" dirty="0" err="1"/>
              <a:t>inventario</a:t>
            </a:r>
            <a:endParaRPr sz="1400" dirty="0"/>
          </a:p>
          <a:p>
            <a:pPr>
              <a:spcAft>
                <a:spcPts val="1000"/>
              </a:spcAft>
              <a:defRPr sz="1400">
                <a:solidFill>
                  <a:srgbClr val="182230"/>
                </a:solidFill>
                <a:latin typeface="Aptos"/>
              </a:defRPr>
            </a:pPr>
            <a:r>
              <a:rPr sz="1400" dirty="0"/>
              <a:t>• Una </a:t>
            </a:r>
            <a:r>
              <a:rPr sz="1400" dirty="0" err="1"/>
              <a:t>línea</a:t>
            </a:r>
            <a:r>
              <a:rPr sz="1400" dirty="0"/>
              <a:t> de </a:t>
            </a:r>
            <a:r>
              <a:rPr sz="1400" dirty="0" err="1"/>
              <a:t>producto</a:t>
            </a:r>
            <a:r>
              <a:rPr sz="1400" dirty="0"/>
              <a:t> </a:t>
            </a:r>
            <a:r>
              <a:rPr sz="1400" dirty="0" err="1"/>
              <a:t>por</a:t>
            </a:r>
            <a:r>
              <a:rPr sz="1400" dirty="0"/>
              <a:t> </a:t>
            </a:r>
            <a:r>
              <a:rPr sz="1400" dirty="0" err="1"/>
              <a:t>compra</a:t>
            </a:r>
            <a:r>
              <a:rPr sz="1400" dirty="0"/>
              <a:t> y </a:t>
            </a:r>
            <a:r>
              <a:rPr sz="1400" dirty="0" err="1"/>
              <a:t>venta</a:t>
            </a:r>
            <a:endParaRPr sz="1400" dirty="0"/>
          </a:p>
          <a:p>
            <a:pPr>
              <a:spcAft>
                <a:spcPts val="1000"/>
              </a:spcAft>
              <a:defRPr sz="1400">
                <a:solidFill>
                  <a:srgbClr val="182230"/>
                </a:solidFill>
                <a:latin typeface="Aptos"/>
              </a:defRPr>
            </a:pPr>
            <a:r>
              <a:rPr sz="1400" dirty="0"/>
              <a:t>• API JSON para </a:t>
            </a:r>
            <a:r>
              <a:rPr sz="1400" dirty="0" err="1"/>
              <a:t>pruebas</a:t>
            </a:r>
            <a:endParaRPr sz="1400" dirty="0"/>
          </a:p>
          <a:p>
            <a:pPr>
              <a:spcAft>
                <a:spcPts val="1000"/>
              </a:spcAft>
              <a:defRPr sz="1400">
                <a:solidFill>
                  <a:srgbClr val="182230"/>
                </a:solidFill>
                <a:latin typeface="Aptos"/>
              </a:defRPr>
            </a:pPr>
            <a:r>
              <a:rPr sz="1400" dirty="0"/>
              <a:t>• </a:t>
            </a:r>
            <a:r>
              <a:rPr sz="1400" dirty="0" err="1"/>
              <a:t>Validaciones</a:t>
            </a:r>
            <a:r>
              <a:rPr sz="1400" dirty="0"/>
              <a:t>, </a:t>
            </a:r>
            <a:r>
              <a:rPr sz="1400" dirty="0" err="1"/>
              <a:t>índices</a:t>
            </a:r>
            <a:r>
              <a:rPr sz="1400" dirty="0"/>
              <a:t> y </a:t>
            </a:r>
            <a:r>
              <a:rPr sz="1400" dirty="0" err="1"/>
              <a:t>reglas</a:t>
            </a:r>
            <a:r>
              <a:rPr sz="1400" dirty="0"/>
              <a:t> de </a:t>
            </a:r>
            <a:r>
              <a:rPr sz="1400" dirty="0" err="1"/>
              <a:t>integridad</a:t>
            </a:r>
            <a:endParaRPr sz="1400" dirty="0"/>
          </a:p>
        </p:txBody>
      </p:sp>
      <p:sp>
        <p:nvSpPr>
          <p:cNvPr id="7" name="Rounded Rectangle 6"/>
          <p:cNvSpPr/>
          <p:nvPr/>
        </p:nvSpPr>
        <p:spPr>
          <a:xfrm>
            <a:off x="6236208" y="1691640"/>
            <a:ext cx="5257800" cy="4251960"/>
          </a:xfrm>
          <a:prstGeom prst="round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TextBox 7"/>
          <p:cNvSpPr txBox="1"/>
          <p:nvPr/>
        </p:nvSpPr>
        <p:spPr>
          <a:xfrm>
            <a:off x="6510528" y="1994836"/>
            <a:ext cx="2286000" cy="707886"/>
          </a:xfrm>
          <a:prstGeom prst="rect">
            <a:avLst/>
          </a:prstGeom>
          <a:noFill/>
        </p:spPr>
        <p:txBody>
          <a:bodyPr wrap="square" anchor="t">
            <a:spAutoFit/>
          </a:bodyPr>
          <a:lstStyle/>
          <a:p>
            <a:pPr algn="l"/>
            <a:r>
              <a:rPr sz="2000" b="1" dirty="0">
                <a:solidFill>
                  <a:srgbClr val="8EDCFF"/>
                </a:solidFill>
                <a:latin typeface="Aptos"/>
              </a:rPr>
              <a:t>EVOLUCIÓN POSIBLE</a:t>
            </a:r>
          </a:p>
        </p:txBody>
      </p:sp>
      <p:sp>
        <p:nvSpPr>
          <p:cNvPr id="9" name="TextBox 8"/>
          <p:cNvSpPr txBox="1"/>
          <p:nvPr/>
        </p:nvSpPr>
        <p:spPr>
          <a:xfrm>
            <a:off x="6510528" y="2767269"/>
            <a:ext cx="4526280" cy="1682512"/>
          </a:xfrm>
          <a:prstGeom prst="rect">
            <a:avLst/>
          </a:prstGeom>
          <a:noFill/>
        </p:spPr>
        <p:txBody>
          <a:bodyPr wrap="square">
            <a:spAutoFit/>
          </a:bodyPr>
          <a:lstStyle/>
          <a:p>
            <a:pPr>
              <a:spcAft>
                <a:spcPts val="1000"/>
              </a:spcAft>
              <a:defRPr sz="1400">
                <a:solidFill>
                  <a:srgbClr val="FFFFFF"/>
                </a:solidFill>
                <a:latin typeface="Aptos"/>
              </a:defRPr>
            </a:pPr>
            <a:r>
              <a:rPr sz="1400"/>
              <a:t>• Autenticación y permisos por rol</a:t>
            </a:r>
          </a:p>
          <a:p>
            <a:pPr>
              <a:spcAft>
                <a:spcPts val="1000"/>
              </a:spcAft>
              <a:defRPr sz="1400">
                <a:solidFill>
                  <a:srgbClr val="FFFFFF"/>
                </a:solidFill>
                <a:latin typeface="Aptos"/>
              </a:defRPr>
            </a:pPr>
            <a:r>
              <a:rPr sz="1400"/>
              <a:t>• Múltiples líneas mediante arreglos items</a:t>
            </a:r>
          </a:p>
          <a:p>
            <a:pPr>
              <a:spcAft>
                <a:spcPts val="1000"/>
              </a:spcAft>
              <a:defRPr sz="1400">
                <a:solidFill>
                  <a:srgbClr val="FFFFFF"/>
                </a:solidFill>
                <a:latin typeface="Aptos"/>
              </a:defRPr>
            </a:pPr>
            <a:r>
              <a:rPr sz="1400"/>
              <a:t>• Reportes avanzados y analítica</a:t>
            </a:r>
          </a:p>
          <a:p>
            <a:pPr>
              <a:spcAft>
                <a:spcPts val="1000"/>
              </a:spcAft>
              <a:defRPr sz="1400">
                <a:solidFill>
                  <a:srgbClr val="FFFFFF"/>
                </a:solidFill>
                <a:latin typeface="Aptos"/>
              </a:defRPr>
            </a:pPr>
            <a:r>
              <a:rPr sz="1400"/>
              <a:t>• Backups y seguridad para producción</a:t>
            </a:r>
          </a:p>
          <a:p>
            <a:pPr>
              <a:spcAft>
                <a:spcPts val="1000"/>
              </a:spcAft>
              <a:defRPr sz="1400">
                <a:solidFill>
                  <a:srgbClr val="FFFFFF"/>
                </a:solidFill>
                <a:latin typeface="Aptos"/>
              </a:defRPr>
            </a:pPr>
            <a:r>
              <a:rPr sz="1400"/>
              <a:t>• Pruebas de rendimiento y usuarios concurrentes</a:t>
            </a:r>
          </a:p>
        </p:txBody>
      </p:sp>
      <p:sp>
        <p:nvSpPr>
          <p:cNvPr id="10" name="TextBox 9"/>
          <p:cNvSpPr txBox="1"/>
          <p:nvPr/>
        </p:nvSpPr>
        <p:spPr>
          <a:xfrm>
            <a:off x="640080" y="6519672"/>
            <a:ext cx="5029200" cy="261610"/>
          </a:xfrm>
          <a:prstGeom prst="rect">
            <a:avLst/>
          </a:prstGeom>
          <a:noFill/>
        </p:spPr>
        <p:txBody>
          <a:bodyPr wrap="square" anchor="t">
            <a:spAutoFit/>
          </a:bodyPr>
          <a:lstStyle/>
          <a:p>
            <a:pPr algn="l"/>
            <a:r>
              <a:rPr sz="1050" b="1">
                <a:solidFill>
                  <a:srgbClr val="667085"/>
                </a:solidFill>
                <a:latin typeface="Aptos"/>
              </a:rPr>
              <a:t>NOVA TECH SOLUTIONS  •  BASE DE DATOS NOSQL</a:t>
            </a:r>
          </a:p>
        </p:txBody>
      </p:sp>
      <p:sp>
        <p:nvSpPr>
          <p:cNvPr id="11" name="TextBox 10"/>
          <p:cNvSpPr txBox="1"/>
          <p:nvPr/>
        </p:nvSpPr>
        <p:spPr>
          <a:xfrm>
            <a:off x="11155680" y="6492240"/>
            <a:ext cx="411480" cy="261610"/>
          </a:xfrm>
          <a:prstGeom prst="rect">
            <a:avLst/>
          </a:prstGeom>
          <a:noFill/>
        </p:spPr>
        <p:txBody>
          <a:bodyPr wrap="square" anchor="t">
            <a:spAutoFit/>
          </a:bodyPr>
          <a:lstStyle/>
          <a:p>
            <a:pPr algn="r"/>
            <a:r>
              <a:rPr sz="1050" b="1">
                <a:solidFill>
                  <a:srgbClr val="667085"/>
                </a:solidFill>
                <a:latin typeface="Aptos"/>
              </a:rPr>
              <a:t>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12" name="Rounded Rectangle 4">
            <a:extLst>
              <a:ext uri="{FF2B5EF4-FFF2-40B4-BE49-F238E27FC236}">
                <a16:creationId xmlns:a16="http://schemas.microsoft.com/office/drawing/2014/main" id="{342DC0AB-B91E-718E-BBC8-30CD6DDB4A85}"/>
              </a:ext>
            </a:extLst>
          </p:cNvPr>
          <p:cNvSpPr/>
          <p:nvPr/>
        </p:nvSpPr>
        <p:spPr>
          <a:xfrm>
            <a:off x="746708" y="745960"/>
            <a:ext cx="2161805" cy="449072"/>
          </a:xfrm>
          <a:prstGeom prst="roundRect">
            <a:avLst/>
          </a:prstGeom>
          <a:solidFill>
            <a:srgbClr val="2563E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chemeClr val="bg1"/>
              </a:solidFill>
            </a:endParaRPr>
          </a:p>
        </p:txBody>
      </p:sp>
      <p:sp>
        <p:nvSpPr>
          <p:cNvPr id="3" name="TextBox 2"/>
          <p:cNvSpPr txBox="1"/>
          <p:nvPr/>
        </p:nvSpPr>
        <p:spPr>
          <a:xfrm>
            <a:off x="731520" y="823441"/>
            <a:ext cx="2161805" cy="338554"/>
          </a:xfrm>
          <a:prstGeom prst="rect">
            <a:avLst/>
          </a:prstGeom>
          <a:noFill/>
        </p:spPr>
        <p:txBody>
          <a:bodyPr wrap="square" anchor="t">
            <a:spAutoFit/>
          </a:bodyPr>
          <a:lstStyle>
            <a:defPPr>
              <a:defRPr lang="en-US"/>
            </a:defPPr>
            <a:lvl1pPr algn="ctr">
              <a:defRPr sz="1600" b="1">
                <a:solidFill>
                  <a:schemeClr val="bg1"/>
                </a:solidFill>
                <a:latin typeface="Aptos"/>
              </a:defRPr>
            </a:lvl1pPr>
          </a:lstStyle>
          <a:p>
            <a:r>
              <a:rPr lang="es-CR" dirty="0"/>
              <a:t>09 · </a:t>
            </a:r>
            <a:r>
              <a:rPr dirty="0"/>
              <a:t>CONCLUSIONES</a:t>
            </a:r>
          </a:p>
        </p:txBody>
      </p:sp>
      <p:sp>
        <p:nvSpPr>
          <p:cNvPr id="4" name="TextBox 3"/>
          <p:cNvSpPr txBox="1"/>
          <p:nvPr/>
        </p:nvSpPr>
        <p:spPr>
          <a:xfrm>
            <a:off x="731520" y="1325880"/>
            <a:ext cx="6492240" cy="954107"/>
          </a:xfrm>
          <a:prstGeom prst="rect">
            <a:avLst/>
          </a:prstGeom>
          <a:noFill/>
        </p:spPr>
        <p:txBody>
          <a:bodyPr wrap="square" anchor="t">
            <a:spAutoFit/>
          </a:bodyPr>
          <a:lstStyle/>
          <a:p>
            <a:pPr algn="l"/>
            <a:r>
              <a:rPr sz="3600" b="1" dirty="0" err="1">
                <a:solidFill>
                  <a:srgbClr val="FFFFFF"/>
                </a:solidFill>
                <a:latin typeface="Aptos"/>
              </a:rPr>
              <a:t>NovaTech</a:t>
            </a:r>
            <a:r>
              <a:rPr sz="3600" b="1" dirty="0">
                <a:solidFill>
                  <a:srgbClr val="FFFFFF"/>
                </a:solidFill>
                <a:latin typeface="Aptos"/>
              </a:rPr>
              <a:t> integra </a:t>
            </a:r>
            <a:r>
              <a:rPr sz="3600" b="1" dirty="0" err="1">
                <a:solidFill>
                  <a:srgbClr val="FFFFFF"/>
                </a:solidFill>
                <a:latin typeface="Aptos"/>
              </a:rPr>
              <a:t>datos</a:t>
            </a:r>
            <a:r>
              <a:rPr sz="3600" b="1" dirty="0">
                <a:solidFill>
                  <a:srgbClr val="FFFFFF"/>
                </a:solidFill>
                <a:latin typeface="Aptos"/>
              </a:rPr>
              <a:t>,</a:t>
            </a:r>
            <a:br>
              <a:rPr sz="2000" dirty="0"/>
            </a:br>
            <a:r>
              <a:rPr lang="es-CR" sz="2000" b="1" dirty="0">
                <a:solidFill>
                  <a:schemeClr val="bg1">
                    <a:lumMod val="50000"/>
                  </a:schemeClr>
                </a:solidFill>
              </a:rPr>
              <a:t>P</a:t>
            </a:r>
            <a:r>
              <a:rPr sz="2000" b="1" dirty="0" err="1">
                <a:solidFill>
                  <a:schemeClr val="bg1">
                    <a:lumMod val="50000"/>
                  </a:schemeClr>
                </a:solidFill>
              </a:rPr>
              <a:t>rocesos</a:t>
            </a:r>
            <a:r>
              <a:rPr sz="2000" b="1" dirty="0">
                <a:solidFill>
                  <a:schemeClr val="bg1">
                    <a:lumMod val="50000"/>
                  </a:schemeClr>
                </a:solidFill>
              </a:rPr>
              <a:t> y </a:t>
            </a:r>
            <a:r>
              <a:rPr sz="2000" b="1" dirty="0" err="1">
                <a:solidFill>
                  <a:schemeClr val="bg1">
                    <a:lumMod val="50000"/>
                  </a:schemeClr>
                </a:solidFill>
              </a:rPr>
              <a:t>trazabilidad</a:t>
            </a:r>
            <a:r>
              <a:rPr sz="2000" dirty="0"/>
              <a:t>.</a:t>
            </a:r>
          </a:p>
        </p:txBody>
      </p:sp>
      <p:sp>
        <p:nvSpPr>
          <p:cNvPr id="5" name="TextBox 4"/>
          <p:cNvSpPr txBox="1"/>
          <p:nvPr/>
        </p:nvSpPr>
        <p:spPr>
          <a:xfrm>
            <a:off x="731520" y="2418344"/>
            <a:ext cx="6492240" cy="2446824"/>
          </a:xfrm>
          <a:prstGeom prst="rect">
            <a:avLst/>
          </a:prstGeom>
          <a:noFill/>
        </p:spPr>
        <p:txBody>
          <a:bodyPr wrap="square">
            <a:spAutoFit/>
          </a:bodyPr>
          <a:lstStyle/>
          <a:p>
            <a:pPr>
              <a:spcAft>
                <a:spcPts val="1000"/>
              </a:spcAft>
              <a:defRPr sz="1400">
                <a:solidFill>
                  <a:srgbClr val="DCE4F0"/>
                </a:solidFill>
                <a:latin typeface="Aptos"/>
              </a:defRPr>
            </a:pPr>
            <a:r>
              <a:rPr sz="1600" dirty="0"/>
              <a:t>• MongoDB </a:t>
            </a:r>
            <a:r>
              <a:rPr sz="1600" dirty="0" err="1"/>
              <a:t>aporta</a:t>
            </a:r>
            <a:r>
              <a:rPr sz="1600" dirty="0"/>
              <a:t> </a:t>
            </a:r>
            <a:r>
              <a:rPr sz="1600" dirty="0" err="1"/>
              <a:t>flexibilidad</a:t>
            </a:r>
            <a:r>
              <a:rPr sz="1600" dirty="0"/>
              <a:t> para </a:t>
            </a:r>
            <a:r>
              <a:rPr sz="1600" dirty="0" err="1"/>
              <a:t>manejar</a:t>
            </a:r>
            <a:r>
              <a:rPr sz="1600" dirty="0"/>
              <a:t> </a:t>
            </a:r>
            <a:r>
              <a:rPr sz="1600" dirty="0" err="1"/>
              <a:t>información</a:t>
            </a:r>
            <a:r>
              <a:rPr sz="1600" dirty="0"/>
              <a:t> </a:t>
            </a:r>
            <a:r>
              <a:rPr sz="1600" dirty="0" err="1"/>
              <a:t>comercial</a:t>
            </a:r>
            <a:r>
              <a:rPr sz="1600" dirty="0"/>
              <a:t> con </a:t>
            </a:r>
            <a:r>
              <a:rPr sz="1600" dirty="0" err="1"/>
              <a:t>estructuras</a:t>
            </a:r>
            <a:r>
              <a:rPr sz="1600" dirty="0"/>
              <a:t> variables.</a:t>
            </a:r>
          </a:p>
          <a:p>
            <a:pPr>
              <a:spcAft>
                <a:spcPts val="1000"/>
              </a:spcAft>
              <a:defRPr sz="1400">
                <a:solidFill>
                  <a:srgbClr val="DCE4F0"/>
                </a:solidFill>
                <a:latin typeface="Aptos"/>
              </a:defRPr>
            </a:pPr>
            <a:r>
              <a:rPr sz="1600" dirty="0"/>
              <a:t>• La </a:t>
            </a:r>
            <a:r>
              <a:rPr sz="1600" dirty="0" err="1"/>
              <a:t>aplicación</a:t>
            </a:r>
            <a:r>
              <a:rPr sz="1600" dirty="0"/>
              <a:t> </a:t>
            </a:r>
            <a:r>
              <a:rPr sz="1600" dirty="0" err="1"/>
              <a:t>demuestra</a:t>
            </a:r>
            <a:r>
              <a:rPr sz="1600" dirty="0"/>
              <a:t> </a:t>
            </a:r>
            <a:r>
              <a:rPr sz="1600" dirty="0" err="1"/>
              <a:t>operaciones</a:t>
            </a:r>
            <a:r>
              <a:rPr sz="1600" dirty="0"/>
              <a:t> CRUD y </a:t>
            </a:r>
            <a:r>
              <a:rPr sz="1600" dirty="0" err="1"/>
              <a:t>comunicación</a:t>
            </a:r>
            <a:r>
              <a:rPr sz="1600" dirty="0"/>
              <a:t> completa entre </a:t>
            </a:r>
            <a:r>
              <a:rPr sz="1600" dirty="0" err="1"/>
              <a:t>interfaz</a:t>
            </a:r>
            <a:r>
              <a:rPr sz="1600" dirty="0"/>
              <a:t>, </a:t>
            </a:r>
            <a:r>
              <a:rPr sz="1600" dirty="0" err="1"/>
              <a:t>servidor</a:t>
            </a:r>
            <a:r>
              <a:rPr sz="1600" dirty="0"/>
              <a:t> y base de </a:t>
            </a:r>
            <a:r>
              <a:rPr sz="1600" dirty="0" err="1"/>
              <a:t>datos</a:t>
            </a:r>
            <a:r>
              <a:rPr sz="1600" dirty="0"/>
              <a:t>.</a:t>
            </a:r>
          </a:p>
          <a:p>
            <a:pPr>
              <a:spcAft>
                <a:spcPts val="1000"/>
              </a:spcAft>
              <a:defRPr sz="1400">
                <a:solidFill>
                  <a:srgbClr val="DCE4F0"/>
                </a:solidFill>
                <a:latin typeface="Aptos"/>
              </a:defRPr>
            </a:pPr>
            <a:r>
              <a:rPr sz="1600" dirty="0"/>
              <a:t>• Las </a:t>
            </a:r>
            <a:r>
              <a:rPr sz="1600" dirty="0" err="1"/>
              <a:t>reglas</a:t>
            </a:r>
            <a:r>
              <a:rPr sz="1600" dirty="0"/>
              <a:t> </a:t>
            </a:r>
            <a:r>
              <a:rPr sz="1600" dirty="0" err="1"/>
              <a:t>automáticas</a:t>
            </a:r>
            <a:r>
              <a:rPr sz="1600" dirty="0"/>
              <a:t> de </a:t>
            </a:r>
            <a:r>
              <a:rPr sz="1600" dirty="0" err="1"/>
              <a:t>inventario</a:t>
            </a:r>
            <a:r>
              <a:rPr sz="1600" dirty="0"/>
              <a:t> </a:t>
            </a:r>
            <a:r>
              <a:rPr sz="1600" dirty="0" err="1"/>
              <a:t>reducen</a:t>
            </a:r>
            <a:r>
              <a:rPr sz="1600" dirty="0"/>
              <a:t> </a:t>
            </a:r>
            <a:r>
              <a:rPr sz="1600" dirty="0" err="1"/>
              <a:t>inconsistencias</a:t>
            </a:r>
            <a:r>
              <a:rPr sz="1600" dirty="0"/>
              <a:t> y </a:t>
            </a:r>
            <a:r>
              <a:rPr sz="1600" dirty="0" err="1"/>
              <a:t>conectan</a:t>
            </a:r>
            <a:r>
              <a:rPr sz="1600" dirty="0"/>
              <a:t> </a:t>
            </a:r>
            <a:r>
              <a:rPr sz="1600" dirty="0" err="1"/>
              <a:t>compras</a:t>
            </a:r>
            <a:r>
              <a:rPr sz="1600" dirty="0"/>
              <a:t>, </a:t>
            </a:r>
            <a:r>
              <a:rPr sz="1600" dirty="0" err="1"/>
              <a:t>ventas</a:t>
            </a:r>
            <a:r>
              <a:rPr sz="1600" dirty="0"/>
              <a:t> y </a:t>
            </a:r>
            <a:r>
              <a:rPr sz="1600" dirty="0" err="1"/>
              <a:t>devoluciones</a:t>
            </a:r>
            <a:r>
              <a:rPr sz="1600" dirty="0"/>
              <a:t>.</a:t>
            </a:r>
          </a:p>
          <a:p>
            <a:pPr>
              <a:spcAft>
                <a:spcPts val="1000"/>
              </a:spcAft>
              <a:defRPr sz="1400">
                <a:solidFill>
                  <a:srgbClr val="DCE4F0"/>
                </a:solidFill>
                <a:latin typeface="Aptos"/>
              </a:defRPr>
            </a:pPr>
            <a:r>
              <a:rPr sz="1600" dirty="0"/>
              <a:t>• La </a:t>
            </a:r>
            <a:r>
              <a:rPr sz="1600" dirty="0" err="1"/>
              <a:t>arquitectura</a:t>
            </a:r>
            <a:r>
              <a:rPr sz="1600" dirty="0"/>
              <a:t> </a:t>
            </a:r>
            <a:r>
              <a:rPr sz="1600" dirty="0" err="1"/>
              <a:t>deja</a:t>
            </a:r>
            <a:r>
              <a:rPr sz="1600" dirty="0"/>
              <a:t> </a:t>
            </a:r>
            <a:r>
              <a:rPr sz="1600" dirty="0" err="1"/>
              <a:t>una</a:t>
            </a:r>
            <a:r>
              <a:rPr sz="1600" dirty="0"/>
              <a:t> base </a:t>
            </a:r>
            <a:r>
              <a:rPr sz="1600" dirty="0" err="1"/>
              <a:t>clara</a:t>
            </a:r>
            <a:r>
              <a:rPr sz="1600" dirty="0"/>
              <a:t> para </a:t>
            </a:r>
            <a:r>
              <a:rPr sz="1600" dirty="0" err="1"/>
              <a:t>ampliar</a:t>
            </a:r>
            <a:r>
              <a:rPr sz="1600" dirty="0"/>
              <a:t> el </a:t>
            </a:r>
            <a:r>
              <a:rPr sz="1600" dirty="0" err="1"/>
              <a:t>sistema</a:t>
            </a:r>
            <a:r>
              <a:rPr sz="1600" dirty="0"/>
              <a:t> </a:t>
            </a:r>
            <a:r>
              <a:rPr sz="1600" dirty="0" err="1"/>
              <a:t>en</a:t>
            </a:r>
            <a:r>
              <a:rPr sz="1600" dirty="0"/>
              <a:t> </a:t>
            </a:r>
            <a:r>
              <a:rPr sz="1600" dirty="0" err="1"/>
              <a:t>futuras</a:t>
            </a:r>
            <a:r>
              <a:rPr sz="1600" dirty="0"/>
              <a:t> </a:t>
            </a:r>
            <a:r>
              <a:rPr sz="1600" dirty="0" err="1"/>
              <a:t>versiones</a:t>
            </a:r>
            <a:r>
              <a:rPr sz="1600" dirty="0"/>
              <a:t>.</a:t>
            </a:r>
          </a:p>
        </p:txBody>
      </p:sp>
      <p:sp>
        <p:nvSpPr>
          <p:cNvPr id="6" name="Rounded Rectangle 5"/>
          <p:cNvSpPr/>
          <p:nvPr/>
        </p:nvSpPr>
        <p:spPr>
          <a:xfrm>
            <a:off x="8275320" y="1325880"/>
            <a:ext cx="2971800" cy="2971800"/>
          </a:xfrm>
          <a:prstGeom prst="roundRect">
            <a:avLst/>
          </a:prstGeom>
          <a:solidFill>
            <a:srgbClr val="2563EB"/>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8275320" y="1600200"/>
            <a:ext cx="2971800" cy="1015663"/>
          </a:xfrm>
          <a:prstGeom prst="rect">
            <a:avLst/>
          </a:prstGeom>
          <a:noFill/>
        </p:spPr>
        <p:txBody>
          <a:bodyPr wrap="square" anchor="t">
            <a:spAutoFit/>
          </a:bodyPr>
          <a:lstStyle/>
          <a:p>
            <a:pPr algn="ctr"/>
            <a:r>
              <a:rPr sz="6000" b="1">
                <a:solidFill>
                  <a:srgbClr val="FFFFFF"/>
                </a:solidFill>
                <a:latin typeface="Aptos"/>
              </a:rPr>
              <a:t>12</a:t>
            </a:r>
          </a:p>
        </p:txBody>
      </p:sp>
      <p:sp>
        <p:nvSpPr>
          <p:cNvPr id="8" name="TextBox 7"/>
          <p:cNvSpPr txBox="1"/>
          <p:nvPr/>
        </p:nvSpPr>
        <p:spPr>
          <a:xfrm>
            <a:off x="8275320" y="2690264"/>
            <a:ext cx="2971800" cy="830997"/>
          </a:xfrm>
          <a:prstGeom prst="rect">
            <a:avLst/>
          </a:prstGeom>
          <a:noFill/>
        </p:spPr>
        <p:txBody>
          <a:bodyPr wrap="square" anchor="t">
            <a:spAutoFit/>
          </a:bodyPr>
          <a:lstStyle/>
          <a:p>
            <a:pPr algn="ctr"/>
            <a:r>
              <a:rPr sz="2400" b="1" dirty="0" err="1">
                <a:solidFill>
                  <a:srgbClr val="FFFFFF"/>
                </a:solidFill>
                <a:latin typeface="Aptos"/>
              </a:rPr>
              <a:t>colecciones</a:t>
            </a:r>
            <a:br>
              <a:rPr sz="2400" dirty="0"/>
            </a:br>
            <a:r>
              <a:rPr sz="2400" dirty="0" err="1"/>
              <a:t>integradas</a:t>
            </a:r>
            <a:endParaRPr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4114800" cy="246221"/>
          </a:xfrm>
          <a:prstGeom prst="rect">
            <a:avLst/>
          </a:prstGeom>
          <a:noFill/>
        </p:spPr>
        <p:txBody>
          <a:bodyPr wrap="square" anchor="t">
            <a:spAutoFit/>
          </a:bodyPr>
          <a:lstStyle/>
          <a:p>
            <a:pPr algn="l"/>
            <a:r>
              <a:rPr lang="es-CR" sz="1000" b="1" dirty="0">
                <a:solidFill>
                  <a:srgbClr val="2563EB"/>
                </a:solidFill>
                <a:latin typeface="Aptos"/>
              </a:rPr>
              <a:t>10</a:t>
            </a:r>
            <a:r>
              <a:rPr sz="1000" b="1" dirty="0">
                <a:solidFill>
                  <a:srgbClr val="2563EB"/>
                </a:solidFill>
                <a:latin typeface="Aptos"/>
              </a:rPr>
              <a:t> · DEMO</a:t>
            </a:r>
          </a:p>
        </p:txBody>
      </p:sp>
      <p:sp>
        <p:nvSpPr>
          <p:cNvPr id="3" name="TextBox 2"/>
          <p:cNvSpPr txBox="1"/>
          <p:nvPr/>
        </p:nvSpPr>
        <p:spPr>
          <a:xfrm>
            <a:off x="640080" y="749808"/>
            <a:ext cx="10789920" cy="507831"/>
          </a:xfrm>
          <a:prstGeom prst="rect">
            <a:avLst/>
          </a:prstGeom>
          <a:noFill/>
        </p:spPr>
        <p:txBody>
          <a:bodyPr wrap="square" anchor="t">
            <a:spAutoFit/>
          </a:bodyPr>
          <a:lstStyle/>
          <a:p>
            <a:pPr algn="l"/>
            <a:r>
              <a:rPr lang="es-CR" sz="2700" b="1" dirty="0">
                <a:solidFill>
                  <a:srgbClr val="182230"/>
                </a:solidFill>
                <a:latin typeface="Aptos"/>
              </a:rPr>
              <a:t>Vamos a recorrer nuestro demo</a:t>
            </a:r>
            <a:endParaRPr sz="2700" b="1" dirty="0">
              <a:solidFill>
                <a:srgbClr val="182230"/>
              </a:solidFill>
              <a:latin typeface="Aptos"/>
            </a:endParaRPr>
          </a:p>
        </p:txBody>
      </p:sp>
      <p:sp>
        <p:nvSpPr>
          <p:cNvPr id="4" name="Rounded Rectangle 3"/>
          <p:cNvSpPr/>
          <p:nvPr/>
        </p:nvSpPr>
        <p:spPr>
          <a:xfrm>
            <a:off x="822960" y="1691640"/>
            <a:ext cx="3337560" cy="150876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Rounded Rectangle 4"/>
          <p:cNvSpPr/>
          <p:nvPr/>
        </p:nvSpPr>
        <p:spPr>
          <a:xfrm>
            <a:off x="987552" y="1892808"/>
            <a:ext cx="502920"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987552" y="1950458"/>
            <a:ext cx="502920" cy="369332"/>
          </a:xfrm>
          <a:prstGeom prst="rect">
            <a:avLst/>
          </a:prstGeom>
          <a:noFill/>
        </p:spPr>
        <p:txBody>
          <a:bodyPr wrap="square" anchor="ctr">
            <a:spAutoFit/>
          </a:bodyPr>
          <a:lstStyle/>
          <a:p>
            <a:pPr algn="ctr"/>
            <a:r>
              <a:rPr b="1">
                <a:solidFill>
                  <a:srgbClr val="FFFFFF"/>
                </a:solidFill>
                <a:latin typeface="Aptos"/>
              </a:rPr>
              <a:t>1</a:t>
            </a:r>
          </a:p>
        </p:txBody>
      </p:sp>
      <p:sp>
        <p:nvSpPr>
          <p:cNvPr id="7" name="TextBox 6"/>
          <p:cNvSpPr txBox="1"/>
          <p:nvPr/>
        </p:nvSpPr>
        <p:spPr>
          <a:xfrm>
            <a:off x="1664208" y="1892808"/>
            <a:ext cx="2240280" cy="338554"/>
          </a:xfrm>
          <a:prstGeom prst="rect">
            <a:avLst/>
          </a:prstGeom>
          <a:noFill/>
        </p:spPr>
        <p:txBody>
          <a:bodyPr wrap="square" anchor="t">
            <a:spAutoFit/>
          </a:bodyPr>
          <a:lstStyle/>
          <a:p>
            <a:pPr algn="l"/>
            <a:r>
              <a:rPr sz="1600" b="1">
                <a:solidFill>
                  <a:srgbClr val="182230"/>
                </a:solidFill>
                <a:latin typeface="Aptos"/>
              </a:rPr>
              <a:t>Dashboard</a:t>
            </a:r>
          </a:p>
        </p:txBody>
      </p:sp>
      <p:sp>
        <p:nvSpPr>
          <p:cNvPr id="8" name="TextBox 7"/>
          <p:cNvSpPr txBox="1"/>
          <p:nvPr/>
        </p:nvSpPr>
        <p:spPr>
          <a:xfrm>
            <a:off x="1664208" y="2286000"/>
            <a:ext cx="2148840" cy="430887"/>
          </a:xfrm>
          <a:prstGeom prst="rect">
            <a:avLst/>
          </a:prstGeom>
          <a:noFill/>
        </p:spPr>
        <p:txBody>
          <a:bodyPr wrap="square" anchor="t">
            <a:spAutoFit/>
          </a:bodyPr>
          <a:lstStyle/>
          <a:p>
            <a:pPr algn="l"/>
            <a:r>
              <a:rPr sz="1100" b="0">
                <a:solidFill>
                  <a:srgbClr val="667085"/>
                </a:solidFill>
                <a:latin typeface="Aptos"/>
              </a:rPr>
              <a:t>Mostrar métricas, módulos y alertas de stock.</a:t>
            </a:r>
          </a:p>
        </p:txBody>
      </p:sp>
      <p:sp>
        <p:nvSpPr>
          <p:cNvPr id="9" name="Rounded Rectangle 8"/>
          <p:cNvSpPr/>
          <p:nvPr/>
        </p:nvSpPr>
        <p:spPr>
          <a:xfrm>
            <a:off x="4590288" y="1691640"/>
            <a:ext cx="3337560" cy="150876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Rounded Rectangle 9"/>
          <p:cNvSpPr/>
          <p:nvPr/>
        </p:nvSpPr>
        <p:spPr>
          <a:xfrm>
            <a:off x="4754880" y="1892808"/>
            <a:ext cx="502920"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4754880" y="1950458"/>
            <a:ext cx="502920" cy="369332"/>
          </a:xfrm>
          <a:prstGeom prst="rect">
            <a:avLst/>
          </a:prstGeom>
          <a:noFill/>
        </p:spPr>
        <p:txBody>
          <a:bodyPr wrap="square" anchor="ctr">
            <a:spAutoFit/>
          </a:bodyPr>
          <a:lstStyle/>
          <a:p>
            <a:pPr algn="ctr"/>
            <a:r>
              <a:rPr b="1">
                <a:solidFill>
                  <a:srgbClr val="FFFFFF"/>
                </a:solidFill>
                <a:latin typeface="Aptos"/>
              </a:rPr>
              <a:t>2</a:t>
            </a:r>
          </a:p>
        </p:txBody>
      </p:sp>
      <p:sp>
        <p:nvSpPr>
          <p:cNvPr id="12" name="TextBox 11"/>
          <p:cNvSpPr txBox="1"/>
          <p:nvPr/>
        </p:nvSpPr>
        <p:spPr>
          <a:xfrm>
            <a:off x="5431536" y="1892808"/>
            <a:ext cx="2240280" cy="338554"/>
          </a:xfrm>
          <a:prstGeom prst="rect">
            <a:avLst/>
          </a:prstGeom>
          <a:noFill/>
        </p:spPr>
        <p:txBody>
          <a:bodyPr wrap="square" anchor="t">
            <a:spAutoFit/>
          </a:bodyPr>
          <a:lstStyle/>
          <a:p>
            <a:pPr algn="l"/>
            <a:r>
              <a:rPr sz="1600" b="1">
                <a:solidFill>
                  <a:srgbClr val="182230"/>
                </a:solidFill>
                <a:latin typeface="Aptos"/>
              </a:rPr>
              <a:t>Producto</a:t>
            </a:r>
          </a:p>
        </p:txBody>
      </p:sp>
      <p:sp>
        <p:nvSpPr>
          <p:cNvPr id="13" name="TextBox 12"/>
          <p:cNvSpPr txBox="1"/>
          <p:nvPr/>
        </p:nvSpPr>
        <p:spPr>
          <a:xfrm>
            <a:off x="5431536" y="2286000"/>
            <a:ext cx="2148840" cy="261610"/>
          </a:xfrm>
          <a:prstGeom prst="rect">
            <a:avLst/>
          </a:prstGeom>
          <a:noFill/>
        </p:spPr>
        <p:txBody>
          <a:bodyPr wrap="square" anchor="t">
            <a:spAutoFit/>
          </a:bodyPr>
          <a:lstStyle/>
          <a:p>
            <a:pPr algn="l"/>
            <a:r>
              <a:rPr sz="1100" b="0">
                <a:solidFill>
                  <a:srgbClr val="667085"/>
                </a:solidFill>
                <a:latin typeface="Aptos"/>
              </a:rPr>
              <a:t>Crear producto con stock inicial.</a:t>
            </a:r>
          </a:p>
        </p:txBody>
      </p:sp>
      <p:sp>
        <p:nvSpPr>
          <p:cNvPr id="14" name="Rounded Rectangle 13"/>
          <p:cNvSpPr/>
          <p:nvPr/>
        </p:nvSpPr>
        <p:spPr>
          <a:xfrm>
            <a:off x="8357616" y="1691640"/>
            <a:ext cx="3337560" cy="150876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Rounded Rectangle 14"/>
          <p:cNvSpPr/>
          <p:nvPr/>
        </p:nvSpPr>
        <p:spPr>
          <a:xfrm>
            <a:off x="8522208" y="1892808"/>
            <a:ext cx="502920"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8522208" y="1950458"/>
            <a:ext cx="502920" cy="369332"/>
          </a:xfrm>
          <a:prstGeom prst="rect">
            <a:avLst/>
          </a:prstGeom>
          <a:noFill/>
        </p:spPr>
        <p:txBody>
          <a:bodyPr wrap="square" anchor="ctr">
            <a:spAutoFit/>
          </a:bodyPr>
          <a:lstStyle/>
          <a:p>
            <a:pPr algn="ctr"/>
            <a:r>
              <a:rPr b="1">
                <a:solidFill>
                  <a:srgbClr val="FFFFFF"/>
                </a:solidFill>
                <a:latin typeface="Aptos"/>
              </a:rPr>
              <a:t>3</a:t>
            </a:r>
          </a:p>
        </p:txBody>
      </p:sp>
      <p:sp>
        <p:nvSpPr>
          <p:cNvPr id="17" name="TextBox 16"/>
          <p:cNvSpPr txBox="1"/>
          <p:nvPr/>
        </p:nvSpPr>
        <p:spPr>
          <a:xfrm>
            <a:off x="9198864" y="1892808"/>
            <a:ext cx="2240280" cy="338554"/>
          </a:xfrm>
          <a:prstGeom prst="rect">
            <a:avLst/>
          </a:prstGeom>
          <a:noFill/>
        </p:spPr>
        <p:txBody>
          <a:bodyPr wrap="square" anchor="t">
            <a:spAutoFit/>
          </a:bodyPr>
          <a:lstStyle/>
          <a:p>
            <a:pPr algn="l"/>
            <a:r>
              <a:rPr sz="1600" b="1">
                <a:solidFill>
                  <a:srgbClr val="182230"/>
                </a:solidFill>
                <a:latin typeface="Aptos"/>
              </a:rPr>
              <a:t>Compra</a:t>
            </a:r>
          </a:p>
        </p:txBody>
      </p:sp>
      <p:sp>
        <p:nvSpPr>
          <p:cNvPr id="18" name="TextBox 17"/>
          <p:cNvSpPr txBox="1"/>
          <p:nvPr/>
        </p:nvSpPr>
        <p:spPr>
          <a:xfrm>
            <a:off x="9198864" y="2286000"/>
            <a:ext cx="2148840" cy="430887"/>
          </a:xfrm>
          <a:prstGeom prst="rect">
            <a:avLst/>
          </a:prstGeom>
          <a:noFill/>
        </p:spPr>
        <p:txBody>
          <a:bodyPr wrap="square" anchor="t">
            <a:spAutoFit/>
          </a:bodyPr>
          <a:lstStyle/>
          <a:p>
            <a:pPr algn="l"/>
            <a:r>
              <a:rPr sz="1100" b="0">
                <a:solidFill>
                  <a:srgbClr val="667085"/>
                </a:solidFill>
                <a:latin typeface="Aptos"/>
              </a:rPr>
              <a:t>Cambiar una compra a Recibida y comprobar la entrada.</a:t>
            </a:r>
          </a:p>
        </p:txBody>
      </p:sp>
      <p:sp>
        <p:nvSpPr>
          <p:cNvPr id="19" name="Rounded Rectangle 18"/>
          <p:cNvSpPr/>
          <p:nvPr/>
        </p:nvSpPr>
        <p:spPr>
          <a:xfrm>
            <a:off x="822960" y="3657600"/>
            <a:ext cx="3337560" cy="150876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Rounded Rectangle 19"/>
          <p:cNvSpPr/>
          <p:nvPr/>
        </p:nvSpPr>
        <p:spPr>
          <a:xfrm>
            <a:off x="987552" y="3858768"/>
            <a:ext cx="502920"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TextBox 20"/>
          <p:cNvSpPr txBox="1"/>
          <p:nvPr/>
        </p:nvSpPr>
        <p:spPr>
          <a:xfrm>
            <a:off x="987552" y="3916418"/>
            <a:ext cx="502920" cy="369332"/>
          </a:xfrm>
          <a:prstGeom prst="rect">
            <a:avLst/>
          </a:prstGeom>
          <a:noFill/>
        </p:spPr>
        <p:txBody>
          <a:bodyPr wrap="square" anchor="ctr">
            <a:spAutoFit/>
          </a:bodyPr>
          <a:lstStyle/>
          <a:p>
            <a:pPr algn="ctr"/>
            <a:r>
              <a:rPr b="1">
                <a:solidFill>
                  <a:srgbClr val="FFFFFF"/>
                </a:solidFill>
                <a:latin typeface="Aptos"/>
              </a:rPr>
              <a:t>4</a:t>
            </a:r>
          </a:p>
        </p:txBody>
      </p:sp>
      <p:sp>
        <p:nvSpPr>
          <p:cNvPr id="22" name="TextBox 21"/>
          <p:cNvSpPr txBox="1"/>
          <p:nvPr/>
        </p:nvSpPr>
        <p:spPr>
          <a:xfrm>
            <a:off x="1664208" y="3858768"/>
            <a:ext cx="2240280" cy="338554"/>
          </a:xfrm>
          <a:prstGeom prst="rect">
            <a:avLst/>
          </a:prstGeom>
          <a:noFill/>
        </p:spPr>
        <p:txBody>
          <a:bodyPr wrap="square" anchor="t">
            <a:spAutoFit/>
          </a:bodyPr>
          <a:lstStyle/>
          <a:p>
            <a:pPr algn="l"/>
            <a:r>
              <a:rPr sz="1600" b="1">
                <a:solidFill>
                  <a:srgbClr val="182230"/>
                </a:solidFill>
                <a:latin typeface="Aptos"/>
              </a:rPr>
              <a:t>Venta</a:t>
            </a:r>
          </a:p>
        </p:txBody>
      </p:sp>
      <p:sp>
        <p:nvSpPr>
          <p:cNvPr id="23" name="TextBox 22"/>
          <p:cNvSpPr txBox="1"/>
          <p:nvPr/>
        </p:nvSpPr>
        <p:spPr>
          <a:xfrm>
            <a:off x="1664208" y="4251960"/>
            <a:ext cx="2148840" cy="600164"/>
          </a:xfrm>
          <a:prstGeom prst="rect">
            <a:avLst/>
          </a:prstGeom>
          <a:noFill/>
        </p:spPr>
        <p:txBody>
          <a:bodyPr wrap="square" anchor="t">
            <a:spAutoFit/>
          </a:bodyPr>
          <a:lstStyle/>
          <a:p>
            <a:pPr algn="l"/>
            <a:r>
              <a:rPr sz="1100" b="0">
                <a:solidFill>
                  <a:srgbClr val="667085"/>
                </a:solidFill>
                <a:latin typeface="Aptos"/>
              </a:rPr>
              <a:t>Registrar venta y observar descuento, detalle y movimiento.</a:t>
            </a:r>
          </a:p>
        </p:txBody>
      </p:sp>
      <p:sp>
        <p:nvSpPr>
          <p:cNvPr id="24" name="Rounded Rectangle 23"/>
          <p:cNvSpPr/>
          <p:nvPr/>
        </p:nvSpPr>
        <p:spPr>
          <a:xfrm>
            <a:off x="4590288" y="3657600"/>
            <a:ext cx="3337560" cy="150876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Rounded Rectangle 24"/>
          <p:cNvSpPr/>
          <p:nvPr/>
        </p:nvSpPr>
        <p:spPr>
          <a:xfrm>
            <a:off x="4754880" y="3858768"/>
            <a:ext cx="502920"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p:cNvSpPr txBox="1"/>
          <p:nvPr/>
        </p:nvSpPr>
        <p:spPr>
          <a:xfrm>
            <a:off x="4754880" y="3916418"/>
            <a:ext cx="502920" cy="369332"/>
          </a:xfrm>
          <a:prstGeom prst="rect">
            <a:avLst/>
          </a:prstGeom>
          <a:noFill/>
        </p:spPr>
        <p:txBody>
          <a:bodyPr wrap="square" anchor="ctr">
            <a:spAutoFit/>
          </a:bodyPr>
          <a:lstStyle/>
          <a:p>
            <a:pPr algn="ctr"/>
            <a:r>
              <a:rPr b="1">
                <a:solidFill>
                  <a:srgbClr val="FFFFFF"/>
                </a:solidFill>
                <a:latin typeface="Aptos"/>
              </a:rPr>
              <a:t>5</a:t>
            </a:r>
          </a:p>
        </p:txBody>
      </p:sp>
      <p:sp>
        <p:nvSpPr>
          <p:cNvPr id="27" name="TextBox 26"/>
          <p:cNvSpPr txBox="1"/>
          <p:nvPr/>
        </p:nvSpPr>
        <p:spPr>
          <a:xfrm>
            <a:off x="5431536" y="3858768"/>
            <a:ext cx="2240280" cy="338554"/>
          </a:xfrm>
          <a:prstGeom prst="rect">
            <a:avLst/>
          </a:prstGeom>
          <a:noFill/>
        </p:spPr>
        <p:txBody>
          <a:bodyPr wrap="square" anchor="t">
            <a:spAutoFit/>
          </a:bodyPr>
          <a:lstStyle/>
          <a:p>
            <a:pPr algn="l"/>
            <a:r>
              <a:rPr sz="1600" b="1">
                <a:solidFill>
                  <a:srgbClr val="182230"/>
                </a:solidFill>
                <a:latin typeface="Aptos"/>
              </a:rPr>
              <a:t>Devolución</a:t>
            </a:r>
          </a:p>
        </p:txBody>
      </p:sp>
      <p:sp>
        <p:nvSpPr>
          <p:cNvPr id="28" name="TextBox 27"/>
          <p:cNvSpPr txBox="1"/>
          <p:nvPr/>
        </p:nvSpPr>
        <p:spPr>
          <a:xfrm>
            <a:off x="5431536" y="4251960"/>
            <a:ext cx="2148840" cy="430887"/>
          </a:xfrm>
          <a:prstGeom prst="rect">
            <a:avLst/>
          </a:prstGeom>
          <a:noFill/>
        </p:spPr>
        <p:txBody>
          <a:bodyPr wrap="square" anchor="t">
            <a:spAutoFit/>
          </a:bodyPr>
          <a:lstStyle/>
          <a:p>
            <a:pPr algn="l"/>
            <a:r>
              <a:rPr sz="1100" b="0">
                <a:solidFill>
                  <a:srgbClr val="667085"/>
                </a:solidFill>
                <a:latin typeface="Aptos"/>
              </a:rPr>
              <a:t>Reintegrar una unidad al inventario.</a:t>
            </a:r>
          </a:p>
        </p:txBody>
      </p:sp>
      <p:sp>
        <p:nvSpPr>
          <p:cNvPr id="29" name="Rounded Rectangle 28"/>
          <p:cNvSpPr/>
          <p:nvPr/>
        </p:nvSpPr>
        <p:spPr>
          <a:xfrm>
            <a:off x="8357616" y="3657600"/>
            <a:ext cx="3337560" cy="1508760"/>
          </a:xfrm>
          <a:prstGeom prst="roundRect">
            <a:avLst/>
          </a:prstGeom>
          <a:solidFill>
            <a:srgbClr val="FFFFFF"/>
          </a:solidFill>
          <a:ln>
            <a:solidFill>
              <a:srgbClr val="E5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Rounded Rectangle 29"/>
          <p:cNvSpPr/>
          <p:nvPr/>
        </p:nvSpPr>
        <p:spPr>
          <a:xfrm>
            <a:off x="8522208" y="3858768"/>
            <a:ext cx="502920" cy="50292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TextBox 30"/>
          <p:cNvSpPr txBox="1"/>
          <p:nvPr/>
        </p:nvSpPr>
        <p:spPr>
          <a:xfrm>
            <a:off x="8522208" y="3916418"/>
            <a:ext cx="502920" cy="369332"/>
          </a:xfrm>
          <a:prstGeom prst="rect">
            <a:avLst/>
          </a:prstGeom>
          <a:noFill/>
        </p:spPr>
        <p:txBody>
          <a:bodyPr wrap="square" anchor="ctr">
            <a:spAutoFit/>
          </a:bodyPr>
          <a:lstStyle/>
          <a:p>
            <a:pPr algn="ctr"/>
            <a:r>
              <a:rPr b="1">
                <a:solidFill>
                  <a:srgbClr val="FFFFFF"/>
                </a:solidFill>
                <a:latin typeface="Aptos"/>
              </a:rPr>
              <a:t>6</a:t>
            </a:r>
          </a:p>
        </p:txBody>
      </p:sp>
      <p:sp>
        <p:nvSpPr>
          <p:cNvPr id="32" name="TextBox 31"/>
          <p:cNvSpPr txBox="1"/>
          <p:nvPr/>
        </p:nvSpPr>
        <p:spPr>
          <a:xfrm>
            <a:off x="9198864" y="3858768"/>
            <a:ext cx="2240280" cy="338554"/>
          </a:xfrm>
          <a:prstGeom prst="rect">
            <a:avLst/>
          </a:prstGeom>
          <a:noFill/>
        </p:spPr>
        <p:txBody>
          <a:bodyPr wrap="square" anchor="t">
            <a:spAutoFit/>
          </a:bodyPr>
          <a:lstStyle/>
          <a:p>
            <a:pPr algn="l"/>
            <a:r>
              <a:rPr sz="1600" b="1">
                <a:solidFill>
                  <a:srgbClr val="182230"/>
                </a:solidFill>
                <a:latin typeface="Aptos"/>
              </a:rPr>
              <a:t>MongoDB / Postman</a:t>
            </a:r>
          </a:p>
        </p:txBody>
      </p:sp>
      <p:sp>
        <p:nvSpPr>
          <p:cNvPr id="33" name="TextBox 32"/>
          <p:cNvSpPr txBox="1"/>
          <p:nvPr/>
        </p:nvSpPr>
        <p:spPr>
          <a:xfrm>
            <a:off x="9198864" y="4251960"/>
            <a:ext cx="2148840" cy="430887"/>
          </a:xfrm>
          <a:prstGeom prst="rect">
            <a:avLst/>
          </a:prstGeom>
          <a:noFill/>
        </p:spPr>
        <p:txBody>
          <a:bodyPr wrap="square" anchor="t">
            <a:spAutoFit/>
          </a:bodyPr>
          <a:lstStyle/>
          <a:p>
            <a:pPr algn="l"/>
            <a:r>
              <a:rPr sz="1100" b="0">
                <a:solidFill>
                  <a:srgbClr val="667085"/>
                </a:solidFill>
                <a:latin typeface="Aptos"/>
              </a:rPr>
              <a:t>Mostrar documentos, índices y respuesta JSON.</a:t>
            </a:r>
          </a:p>
        </p:txBody>
      </p:sp>
      <p:sp>
        <p:nvSpPr>
          <p:cNvPr id="34" name="TextBox 33"/>
          <p:cNvSpPr txBox="1"/>
          <p:nvPr/>
        </p:nvSpPr>
        <p:spPr>
          <a:xfrm>
            <a:off x="640080" y="6519672"/>
            <a:ext cx="5029200" cy="164592"/>
          </a:xfrm>
          <a:prstGeom prst="rect">
            <a:avLst/>
          </a:prstGeom>
          <a:noFill/>
        </p:spPr>
        <p:txBody>
          <a:bodyPr wrap="square" anchor="t">
            <a:spAutoFit/>
          </a:bodyPr>
          <a:lstStyle/>
          <a:p>
            <a:pPr algn="l"/>
            <a:r>
              <a:rPr sz="800" b="1">
                <a:solidFill>
                  <a:srgbClr val="667085"/>
                </a:solidFill>
                <a:latin typeface="Aptos"/>
              </a:rPr>
              <a:t>NOVA TECH SOLUTIONS  •  BASE DE DATOS NOSQL</a:t>
            </a:r>
          </a:p>
        </p:txBody>
      </p:sp>
      <p:sp>
        <p:nvSpPr>
          <p:cNvPr id="35" name="TextBox 34"/>
          <p:cNvSpPr txBox="1"/>
          <p:nvPr/>
        </p:nvSpPr>
        <p:spPr>
          <a:xfrm>
            <a:off x="11155680" y="6492240"/>
            <a:ext cx="411480" cy="182880"/>
          </a:xfrm>
          <a:prstGeom prst="rect">
            <a:avLst/>
          </a:prstGeom>
          <a:noFill/>
        </p:spPr>
        <p:txBody>
          <a:bodyPr wrap="square" anchor="t">
            <a:spAutoFit/>
          </a:bodyPr>
          <a:lstStyle/>
          <a:p>
            <a:pPr algn="r"/>
            <a:r>
              <a:rPr sz="800" b="1">
                <a:solidFill>
                  <a:srgbClr val="667085"/>
                </a:solidFill>
                <a:latin typeface="Aptos"/>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1767</Words>
  <Application>Microsoft Office PowerPoint</Application>
  <PresentationFormat>Widescreen</PresentationFormat>
  <Paragraphs>237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Paola Calderon</dc:creator>
  <cp:keywords/>
  <dc:description>generated using python-pptx</dc:description>
  <cp:lastModifiedBy>CALDERON ESPINOZA PAOLA VIRGINIA</cp:lastModifiedBy>
  <cp:revision>12</cp:revision>
  <dcterms:created xsi:type="dcterms:W3CDTF">2013-01-27T09:14:16Z</dcterms:created>
  <dcterms:modified xsi:type="dcterms:W3CDTF">2026-08-18T05:53:20Z</dcterms:modified>
  <cp:category/>
</cp:coreProperties>
</file>